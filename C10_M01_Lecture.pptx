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Fira Sans ExtraBold"/>
      <p:bold r:id="rId21"/>
      <p:boldItalic r:id="rId22"/>
    </p:embeddedFont>
    <p:embeddedFont>
      <p:font typeface="Fira Sans"/>
      <p:regular r:id="rId23"/>
      <p:bold r:id="rId24"/>
      <p:italic r:id="rId25"/>
      <p:boldItalic r:id="rId26"/>
    </p:embeddedFont>
    <p:embeddedFont>
      <p:font typeface="Roboto Mono"/>
      <p:regular r:id="rId27"/>
      <p:bold r:id="rId28"/>
      <p:italic r:id="rId29"/>
      <p:boldItalic r:id="rId30"/>
    </p:embeddedFont>
    <p:embeddedFont>
      <p:font typeface="Karla"/>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orient="horz" pos="657">
          <p15:clr>
            <a:srgbClr val="9AA0A6"/>
          </p15:clr>
        </p15:guide>
        <p15:guide id="4" pos="4649">
          <p15:clr>
            <a:srgbClr val="9AA0A6"/>
          </p15:clr>
        </p15:guide>
        <p15:guide id="5" pos="3497">
          <p15:clr>
            <a:srgbClr val="9AA0A6"/>
          </p15:clr>
        </p15:guide>
        <p15:guide id="6" pos="2350">
          <p15:clr>
            <a:srgbClr val="9AA0A6"/>
          </p15:clr>
        </p15:guide>
        <p15:guide id="7" pos="2016">
          <p15:clr>
            <a:srgbClr val="9AA0A6"/>
          </p15:clr>
        </p15:guide>
      </p15:sldGuideLst>
    </p:ext>
    <p:ext uri="GoogleSlidesCustomDataVersion2">
      <go:slidesCustomData xmlns:go="http://customooxmlschemas.google.com/" r:id="rId35" roundtripDataSignature="AMtx7mgzCM50wYDx9c6Z2qbRNqYFUoTu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657" orient="horz"/>
        <p:guide pos="4649"/>
        <p:guide pos="3497"/>
        <p:guide pos="2350"/>
        <p:guide pos="20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22" Type="http://schemas.openxmlformats.org/officeDocument/2006/relationships/font" Target="fonts/FiraSansExtraBold-boldItalic.fntdata"/><Relationship Id="rId21" Type="http://schemas.openxmlformats.org/officeDocument/2006/relationships/font" Target="fonts/FiraSansExtraBold-bold.fntdata"/><Relationship Id="rId24" Type="http://schemas.openxmlformats.org/officeDocument/2006/relationships/font" Target="fonts/FiraSans-bold.fntdata"/><Relationship Id="rId23" Type="http://schemas.openxmlformats.org/officeDocument/2006/relationships/font" Target="fonts/Fira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Sans-boldItalic.fntdata"/><Relationship Id="rId25" Type="http://schemas.openxmlformats.org/officeDocument/2006/relationships/font" Target="fonts/FiraSans-italic.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Karla-regular.fntdata"/><Relationship Id="rId30" Type="http://schemas.openxmlformats.org/officeDocument/2006/relationships/font" Target="fonts/RobotoMono-boldItalic.fntdata"/><Relationship Id="rId11" Type="http://schemas.openxmlformats.org/officeDocument/2006/relationships/slide" Target="slides/slide6.xml"/><Relationship Id="rId33" Type="http://schemas.openxmlformats.org/officeDocument/2006/relationships/font" Target="fonts/Karla-italic.fntdata"/><Relationship Id="rId10" Type="http://schemas.openxmlformats.org/officeDocument/2006/relationships/slide" Target="slides/slide5.xml"/><Relationship Id="rId32" Type="http://schemas.openxmlformats.org/officeDocument/2006/relationships/font" Target="fonts/Karla-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Karla-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19" Type="http://schemas.openxmlformats.org/officeDocument/2006/relationships/font" Target="fonts/Roboto-italic.fntdata"/><Relationship Id="rId1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000">
                <a:solidFill>
                  <a:schemeClr val="dk1"/>
                </a:solidFill>
              </a:rPr>
              <a:t>“Deep learning powers image recognition, NLP, recommendations, and forecasting. But as networks get deeper, two problems creep in: unstable gradients and overfitting. In this lesson, we’ll see how </a:t>
            </a:r>
            <a:r>
              <a:rPr b="1" lang="en" sz="2000">
                <a:solidFill>
                  <a:schemeClr val="dk1"/>
                </a:solidFill>
              </a:rPr>
              <a:t>normalization</a:t>
            </a:r>
            <a:r>
              <a:rPr lang="en" sz="2000">
                <a:solidFill>
                  <a:schemeClr val="dk1"/>
                </a:solidFill>
              </a:rPr>
              <a:t> keeps learning stable and fast, and how </a:t>
            </a:r>
            <a:r>
              <a:rPr b="1" lang="en" sz="2000">
                <a:solidFill>
                  <a:schemeClr val="dk1"/>
                </a:solidFill>
              </a:rPr>
              <a:t>regularization</a:t>
            </a:r>
            <a:r>
              <a:rPr lang="en" sz="2000">
                <a:solidFill>
                  <a:schemeClr val="dk1"/>
                </a:solidFill>
              </a:rPr>
              <a:t> keeps models honest—generalizing beyond the training set. By the end, you’ll know when and how to apply each so your models train smoothly and make reliable predictions.</a:t>
            </a:r>
            <a:endParaRPr sz="20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900">
                <a:solidFill>
                  <a:schemeClr val="dk1"/>
                </a:solidFill>
              </a:rPr>
              <a:t>“When features come in on wildly different scales or activations drift layer to layer, training can stall or blow up. Normalization tackles that by keeping inputs and activations in friendly ranges, which </a:t>
            </a:r>
            <a:r>
              <a:rPr b="1" lang="en" sz="1900">
                <a:solidFill>
                  <a:schemeClr val="dk1"/>
                </a:solidFill>
              </a:rPr>
              <a:t>smooths gradient flow</a:t>
            </a:r>
            <a:r>
              <a:rPr lang="en" sz="1900">
                <a:solidFill>
                  <a:schemeClr val="dk1"/>
                </a:solidFill>
              </a:rPr>
              <a:t> and </a:t>
            </a:r>
            <a:r>
              <a:rPr b="1" lang="en" sz="1900">
                <a:solidFill>
                  <a:schemeClr val="dk1"/>
                </a:solidFill>
              </a:rPr>
              <a:t>speeds convergence</a:t>
            </a:r>
            <a:r>
              <a:rPr lang="en" sz="1900">
                <a:solidFill>
                  <a:schemeClr val="dk1"/>
                </a:solidFill>
              </a:rPr>
              <a:t>. Regularization fights the other battle—</a:t>
            </a:r>
            <a:r>
              <a:rPr b="1" lang="en" sz="1900">
                <a:solidFill>
                  <a:schemeClr val="dk1"/>
                </a:solidFill>
              </a:rPr>
              <a:t>overfitting</a:t>
            </a:r>
            <a:r>
              <a:rPr lang="en" sz="1900">
                <a:solidFill>
                  <a:schemeClr val="dk1"/>
                </a:solidFill>
              </a:rPr>
              <a:t>—so models don’t memorize noise. The combination is what turns a high-variance science project into a stable system you can ship.”</a:t>
            </a:r>
            <a:endParaRPr sz="19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34eaa4438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334eaa4438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900">
                <a:solidFill>
                  <a:schemeClr val="dk1"/>
                </a:solidFill>
              </a:rPr>
              <a:t>“Normalization means ‘put everything on a comparable scale.’ At the input level, that’s </a:t>
            </a:r>
            <a:r>
              <a:rPr b="1" lang="en" sz="1900">
                <a:solidFill>
                  <a:schemeClr val="dk1"/>
                </a:solidFill>
              </a:rPr>
              <a:t>standardization or min–max scaling</a:t>
            </a:r>
            <a:r>
              <a:rPr lang="en" sz="1900">
                <a:solidFill>
                  <a:schemeClr val="dk1"/>
                </a:solidFill>
              </a:rPr>
              <a:t> so no feature dominates. Inside the network, </a:t>
            </a:r>
            <a:r>
              <a:rPr b="1" lang="en" sz="1900">
                <a:solidFill>
                  <a:schemeClr val="dk1"/>
                </a:solidFill>
              </a:rPr>
              <a:t>batch normalization</a:t>
            </a:r>
            <a:r>
              <a:rPr lang="en" sz="1900">
                <a:solidFill>
                  <a:schemeClr val="dk1"/>
                </a:solidFill>
              </a:rPr>
              <a:t> keeps layer outputs well-behaved as they pass forward. The payoff: more predictable updates, fewer training headaches, and often fewer epochs to reach the same—or better—performance.”</a:t>
            </a:r>
            <a:endParaRPr sz="19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34f63cf967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34f63cf967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800">
                <a:solidFill>
                  <a:schemeClr val="dk1"/>
                </a:solidFill>
              </a:rPr>
              <a:t>“Regularization trims excess complexity so your network learns patterns, not noise. </a:t>
            </a:r>
            <a:r>
              <a:rPr b="1" lang="en" sz="1800">
                <a:solidFill>
                  <a:schemeClr val="dk1"/>
                </a:solidFill>
              </a:rPr>
              <a:t>L1/L2 weight penalties</a:t>
            </a:r>
            <a:r>
              <a:rPr lang="en" sz="1800">
                <a:solidFill>
                  <a:schemeClr val="dk1"/>
                </a:solidFill>
              </a:rPr>
              <a:t> keep weights from ballooning. </a:t>
            </a:r>
            <a:r>
              <a:rPr b="1" lang="en" sz="1800">
                <a:solidFill>
                  <a:schemeClr val="dk1"/>
                </a:solidFill>
              </a:rPr>
              <a:t>Dropout</a:t>
            </a:r>
            <a:r>
              <a:rPr lang="en" sz="1800">
                <a:solidFill>
                  <a:schemeClr val="dk1"/>
                </a:solidFill>
              </a:rPr>
              <a:t> randomly disables neurons during training, forcing the network to develop redundant, robust representations. And </a:t>
            </a:r>
            <a:r>
              <a:rPr b="1" lang="en" sz="1800">
                <a:solidFill>
                  <a:schemeClr val="dk1"/>
                </a:solidFill>
              </a:rPr>
              <a:t>early stopping</a:t>
            </a:r>
            <a:r>
              <a:rPr lang="en" sz="1800">
                <a:solidFill>
                  <a:schemeClr val="dk1"/>
                </a:solidFill>
              </a:rPr>
              <a:t> cuts training once the validation signal stops improving. Together, these techniques reduce variance and boost generalization.”</a:t>
            </a:r>
            <a:endParaRPr sz="18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34f352642b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334f352642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700">
                <a:solidFill>
                  <a:schemeClr val="dk1"/>
                </a:solidFill>
              </a:rPr>
              <a:t>“Here’s a practical recipe you can reuse. One: </a:t>
            </a:r>
            <a:r>
              <a:rPr b="1" lang="en" sz="1700">
                <a:solidFill>
                  <a:schemeClr val="dk1"/>
                </a:solidFill>
              </a:rPr>
              <a:t>explore and scale</a:t>
            </a:r>
            <a:r>
              <a:rPr lang="en" sz="1700">
                <a:solidFill>
                  <a:schemeClr val="dk1"/>
                </a:solidFill>
              </a:rPr>
              <a:t> your data. Two: </a:t>
            </a:r>
            <a:r>
              <a:rPr b="1" lang="en" sz="1700">
                <a:solidFill>
                  <a:schemeClr val="dk1"/>
                </a:solidFill>
              </a:rPr>
              <a:t>design</a:t>
            </a:r>
            <a:r>
              <a:rPr lang="en" sz="1700">
                <a:solidFill>
                  <a:schemeClr val="dk1"/>
                </a:solidFill>
              </a:rPr>
              <a:t> the architecture and decide where normalization layers fit. Three: choose a </a:t>
            </a:r>
            <a:r>
              <a:rPr b="1" lang="en" sz="1700">
                <a:solidFill>
                  <a:schemeClr val="dk1"/>
                </a:solidFill>
              </a:rPr>
              <a:t>regularization strategy</a:t>
            </a:r>
            <a:r>
              <a:rPr lang="en" sz="1700">
                <a:solidFill>
                  <a:schemeClr val="dk1"/>
                </a:solidFill>
              </a:rPr>
              <a:t>—L1/L2, dropout, maybe early stopping. Four: run a </a:t>
            </a:r>
            <a:r>
              <a:rPr b="1" lang="en" sz="1700">
                <a:solidFill>
                  <a:schemeClr val="dk1"/>
                </a:solidFill>
              </a:rPr>
              <a:t>training/validation loop</a:t>
            </a:r>
            <a:r>
              <a:rPr lang="en" sz="1700">
                <a:solidFill>
                  <a:schemeClr val="dk1"/>
                </a:solidFill>
              </a:rPr>
              <a:t>, watching loss and accuracy curves. Five: </a:t>
            </a:r>
            <a:r>
              <a:rPr b="1" lang="en" sz="1700">
                <a:solidFill>
                  <a:schemeClr val="dk1"/>
                </a:solidFill>
              </a:rPr>
              <a:t>fine-tune</a:t>
            </a:r>
            <a:r>
              <a:rPr lang="en" sz="1700">
                <a:solidFill>
                  <a:schemeClr val="dk1"/>
                </a:solidFill>
              </a:rPr>
              <a:t> hyperparameters like learning rate, dropout rate, and weight decay for stability and performance. That’s the day-to-day loop of reliable deep learning.”</a:t>
            </a:r>
            <a:endParaRPr sz="17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d50292c37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37d50292c3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600">
                <a:solidFill>
                  <a:schemeClr val="dk1"/>
                </a:solidFill>
              </a:rPr>
              <a:t>“These ideas show up everywhere. In </a:t>
            </a:r>
            <a:r>
              <a:rPr b="1" lang="en" sz="1600">
                <a:solidFill>
                  <a:schemeClr val="dk1"/>
                </a:solidFill>
              </a:rPr>
              <a:t>healthcare</a:t>
            </a:r>
            <a:r>
              <a:rPr lang="en" sz="1600">
                <a:solidFill>
                  <a:schemeClr val="dk1"/>
                </a:solidFill>
              </a:rPr>
              <a:t>, medical imaging systems benefit from batch norm and dropout for steadier training on variable scans. In </a:t>
            </a:r>
            <a:r>
              <a:rPr b="1" lang="en" sz="1600">
                <a:solidFill>
                  <a:schemeClr val="dk1"/>
                </a:solidFill>
              </a:rPr>
              <a:t>finance</a:t>
            </a:r>
            <a:r>
              <a:rPr lang="en" sz="1600">
                <a:solidFill>
                  <a:schemeClr val="dk1"/>
                </a:solidFill>
              </a:rPr>
              <a:t>, scaling inputs like income and balances plus L2 regularization stabilizes credit risk models. In </a:t>
            </a:r>
            <a:r>
              <a:rPr b="1" lang="en" sz="1600">
                <a:solidFill>
                  <a:schemeClr val="dk1"/>
                </a:solidFill>
              </a:rPr>
              <a:t>e-commerce</a:t>
            </a:r>
            <a:r>
              <a:rPr lang="en" sz="1600">
                <a:solidFill>
                  <a:schemeClr val="dk1"/>
                </a:solidFill>
              </a:rPr>
              <a:t>, normalization balances heavy and light users, while dropout helps recommendations generalize to new customers. Same playbook, different data.”</a:t>
            </a:r>
            <a:endParaRPr sz="16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d50292c37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37d50292c37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700">
                <a:solidFill>
                  <a:schemeClr val="dk1"/>
                </a:solidFill>
              </a:rPr>
              <a:t>“A few ground rules. </a:t>
            </a:r>
            <a:r>
              <a:rPr b="1" lang="en" sz="1700">
                <a:solidFill>
                  <a:schemeClr val="dk1"/>
                </a:solidFill>
              </a:rPr>
              <a:t>Always</a:t>
            </a:r>
            <a:r>
              <a:rPr lang="en" sz="1700">
                <a:solidFill>
                  <a:schemeClr val="dk1"/>
                </a:solidFill>
              </a:rPr>
              <a:t> fit your scaler on the training split and apply it to validation and test—no peeking. Use </a:t>
            </a:r>
            <a:r>
              <a:rPr b="1" lang="en" sz="1700">
                <a:solidFill>
                  <a:schemeClr val="dk1"/>
                </a:solidFill>
              </a:rPr>
              <a:t>batch norm</a:t>
            </a:r>
            <a:r>
              <a:rPr lang="en" sz="1700">
                <a:solidFill>
                  <a:schemeClr val="dk1"/>
                </a:solidFill>
              </a:rPr>
              <a:t> when your network is deeper or activations drift; it’s not mandatory for every tabular MLP. Start </a:t>
            </a:r>
            <a:r>
              <a:rPr b="1" lang="en" sz="1700">
                <a:solidFill>
                  <a:schemeClr val="dk1"/>
                </a:solidFill>
              </a:rPr>
              <a:t>light</a:t>
            </a:r>
            <a:r>
              <a:rPr lang="en" sz="1700">
                <a:solidFill>
                  <a:schemeClr val="dk1"/>
                </a:solidFill>
              </a:rPr>
              <a:t> with regularization and increase only if you see overfitting. And watch your validation curves—</a:t>
            </a:r>
            <a:r>
              <a:rPr b="1" lang="en" sz="1700">
                <a:solidFill>
                  <a:schemeClr val="dk1"/>
                </a:solidFill>
              </a:rPr>
              <a:t>early stopping</a:t>
            </a:r>
            <a:r>
              <a:rPr lang="en" sz="1700">
                <a:solidFill>
                  <a:schemeClr val="dk1"/>
                </a:solidFill>
              </a:rPr>
              <a:t> is an easy win that saves time and prevents regressions.”</a:t>
            </a:r>
            <a:endParaRPr sz="17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2547984f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32547984f4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500">
                <a:solidFill>
                  <a:schemeClr val="dk1"/>
                </a:solidFill>
              </a:rPr>
              <a:t>“Here’s what this looks like in practice. On a standardized tabular task, a simple MLP can be tough to beat. In our runs, </a:t>
            </a:r>
            <a:r>
              <a:rPr b="1" lang="en" sz="1500">
                <a:solidFill>
                  <a:schemeClr val="dk1"/>
                </a:solidFill>
              </a:rPr>
              <a:t>light L2 plus small dropout</a:t>
            </a:r>
            <a:r>
              <a:rPr lang="en" sz="1500">
                <a:solidFill>
                  <a:schemeClr val="dk1"/>
                </a:solidFill>
              </a:rPr>
              <a:t> edged out the baseline, shrinking validation and test error a bit—exactly what you want from regularization. But </a:t>
            </a:r>
            <a:r>
              <a:rPr b="1" lang="en" sz="1500">
                <a:solidFill>
                  <a:schemeClr val="dk1"/>
                </a:solidFill>
              </a:rPr>
              <a:t>batch norm underperformed</a:t>
            </a:r>
            <a:r>
              <a:rPr lang="en" sz="1500">
                <a:solidFill>
                  <a:schemeClr val="dk1"/>
                </a:solidFill>
              </a:rPr>
              <a:t> here, which can happen with shallow MLPs and small-ish batches. The lesson: </a:t>
            </a:r>
            <a:r>
              <a:rPr b="1" lang="en" sz="1500">
                <a:solidFill>
                  <a:schemeClr val="dk1"/>
                </a:solidFill>
              </a:rPr>
              <a:t>tune to the data</a:t>
            </a:r>
            <a:r>
              <a:rPr lang="en" sz="1500">
                <a:solidFill>
                  <a:schemeClr val="dk1"/>
                </a:solidFill>
              </a:rPr>
              <a:t>. Normalization and regularization are tools, not defaults—use validation metrics to decide.”</a:t>
            </a:r>
            <a:endParaRPr sz="1500">
              <a:solidFill>
                <a:schemeClr val="dk1"/>
              </a:solidFill>
            </a:endParaRPr>
          </a:p>
          <a:p>
            <a:pPr indent="0" lvl="0" marL="0" rtl="0" algn="l">
              <a:lnSpc>
                <a:spcPct val="115000"/>
              </a:lnSpc>
              <a:spcBef>
                <a:spcPts val="1200"/>
              </a:spcBef>
              <a:spcAft>
                <a:spcPts val="0"/>
              </a:spcAft>
              <a:buSzPts val="1100"/>
              <a:buNone/>
            </a:pPr>
            <a:r>
              <a:t/>
            </a:r>
            <a:endParaRPr sz="1500">
              <a:solidFill>
                <a:schemeClr val="dk1"/>
              </a:solidFill>
            </a:endParaRPr>
          </a:p>
          <a:p>
            <a:pPr indent="0" lvl="0" marL="0" rtl="0" algn="l">
              <a:lnSpc>
                <a:spcPct val="115000"/>
              </a:lnSpc>
              <a:spcBef>
                <a:spcPts val="1200"/>
              </a:spcBef>
              <a:spcAft>
                <a:spcPts val="0"/>
              </a:spcAft>
              <a:buSzPts val="1100"/>
              <a:buNone/>
            </a:pPr>
            <a:r>
              <a:rPr lang="en" sz="1500">
                <a:solidFill>
                  <a:schemeClr val="dk1"/>
                </a:solidFill>
              </a:rPr>
              <a:t>Here’s the story your numbers tell:</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hyperparameter sweep</a:t>
            </a:r>
            <a:r>
              <a:rPr lang="en" sz="1500">
                <a:solidFill>
                  <a:schemeClr val="dk1"/>
                </a:solidFill>
              </a:rPr>
              <a:t>—you ran </a:t>
            </a:r>
            <a:r>
              <a:rPr b="1" lang="en" sz="1500">
                <a:solidFill>
                  <a:schemeClr val="dk1"/>
                </a:solidFill>
              </a:rPr>
              <a:t>multiple model variants</a:t>
            </a:r>
            <a:r>
              <a:rPr lang="en" sz="1500">
                <a:solidFill>
                  <a:schemeClr val="dk1"/>
                </a:solidFill>
              </a:rPr>
              <a:t> while “sweeping” over settings (e.g., L2 ∈ {1e-5, 5e-5}, dropout ∈ {0.1, 0.15, 0.2}, BN batch_size ∈ {64, 128}) and then compared them by validation MAE. “Sweep results” = summary of those trials.</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1) Light regularization &gt; baseline (small but real wins)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Best</a:t>
            </a:r>
            <a:r>
              <a:rPr lang="en" sz="1500">
                <a:solidFill>
                  <a:schemeClr val="dk1"/>
                </a:solidFill>
              </a:rPr>
              <a:t>: </a:t>
            </a:r>
            <a:r>
              <a:rPr lang="en" sz="1500">
                <a:solidFill>
                  <a:srgbClr val="188038"/>
                </a:solidFill>
                <a:latin typeface="Roboto Mono"/>
                <a:ea typeface="Roboto Mono"/>
                <a:cs typeface="Roboto Mono"/>
                <a:sym typeface="Roboto Mono"/>
              </a:rPr>
              <a:t>L2+Dropout (l2=1e-05, dr=0.1)</a:t>
            </a:r>
            <a:br>
              <a:rPr lang="en" sz="1500">
                <a:solidFill>
                  <a:srgbClr val="188038"/>
                </a:solidFill>
                <a:latin typeface="Roboto Mono"/>
                <a:ea typeface="Roboto Mono"/>
                <a:cs typeface="Roboto Mono"/>
                <a:sym typeface="Roboto Mono"/>
              </a:rPr>
            </a:br>
            <a:endParaRPr sz="1500">
              <a:solidFill>
                <a:srgbClr val="188038"/>
              </a:solidFill>
              <a:latin typeface="Roboto Mono"/>
              <a:ea typeface="Roboto Mono"/>
              <a:cs typeface="Roboto Mono"/>
              <a:sym typeface="Roboto Mono"/>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Val MAE</a:t>
            </a:r>
            <a:r>
              <a:rPr lang="en" sz="1500">
                <a:solidFill>
                  <a:schemeClr val="dk1"/>
                </a:solidFill>
              </a:rPr>
              <a:t> 0.3515 vs </a:t>
            </a:r>
            <a:r>
              <a:rPr b="1" lang="en" sz="1500">
                <a:solidFill>
                  <a:schemeClr val="dk1"/>
                </a:solidFill>
              </a:rPr>
              <a:t>Baseline</a:t>
            </a:r>
            <a:r>
              <a:rPr lang="en" sz="1500">
                <a:solidFill>
                  <a:schemeClr val="dk1"/>
                </a:solidFill>
              </a:rPr>
              <a:t> 0.3651 → ~</a:t>
            </a:r>
            <a:r>
              <a:rPr b="1" lang="en" sz="1500">
                <a:solidFill>
                  <a:schemeClr val="dk1"/>
                </a:solidFill>
              </a:rPr>
              <a:t>3.7%</a:t>
            </a:r>
            <a:r>
              <a:rPr lang="en" sz="1500">
                <a:solidFill>
                  <a:schemeClr val="dk1"/>
                </a:solidFill>
              </a:rPr>
              <a:t> lower ((0.3651−0.3515)/0.3651).</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Test MAE</a:t>
            </a:r>
            <a:r>
              <a:rPr lang="en" sz="1500">
                <a:solidFill>
                  <a:schemeClr val="dk1"/>
                </a:solidFill>
              </a:rPr>
              <a:t> 0.3510 vs </a:t>
            </a:r>
            <a:r>
              <a:rPr b="1" lang="en" sz="1500">
                <a:solidFill>
                  <a:schemeClr val="dk1"/>
                </a:solidFill>
              </a:rPr>
              <a:t>Baseline</a:t>
            </a:r>
            <a:r>
              <a:rPr lang="en" sz="1500">
                <a:solidFill>
                  <a:schemeClr val="dk1"/>
                </a:solidFill>
              </a:rPr>
              <a:t> 0.3591 → ~</a:t>
            </a:r>
            <a:r>
              <a:rPr b="1" lang="en" sz="1500">
                <a:solidFill>
                  <a:schemeClr val="dk1"/>
                </a:solidFill>
              </a:rPr>
              <a:t>2.3%</a:t>
            </a:r>
            <a:r>
              <a:rPr lang="en" sz="1500">
                <a:solidFill>
                  <a:schemeClr val="dk1"/>
                </a:solidFill>
              </a:rPr>
              <a:t> lower.</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MSE drops similarly (Val: 0.2663 vs 0.2758; Test: 0.2646 vs 0.2716).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a </a:t>
            </a:r>
            <a:r>
              <a:rPr i="1" lang="en" sz="1500">
                <a:solidFill>
                  <a:schemeClr val="dk1"/>
                </a:solidFill>
              </a:rPr>
              <a:t>light</a:t>
            </a:r>
            <a:r>
              <a:rPr lang="en" sz="1500">
                <a:solidFill>
                  <a:schemeClr val="dk1"/>
                </a:solidFill>
              </a:rPr>
              <a:t> touch of L2 + modest dropout finds a sweet spot that reduces overfitting without adding much bias—exactly what regularization aims to do.</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2) Heavier regularization starts to underfit</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As dropout rises (0.15–0.20) and/or L2 increases (5e-05), </a:t>
            </a:r>
            <a:r>
              <a:rPr b="1" lang="en" sz="1500">
                <a:solidFill>
                  <a:schemeClr val="dk1"/>
                </a:solidFill>
              </a:rPr>
              <a:t>Val/Test MAE creep up</a:t>
            </a:r>
            <a:r>
              <a:rPr lang="en" sz="1500">
                <a:solidFill>
                  <a:schemeClr val="dk1"/>
                </a:solidFill>
              </a:rPr>
              <a:t> (rows 2–6).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push regularization too hard and you lose signal → higher bias.</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3) BatchNorm underperforms here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BN variants are </a:t>
            </a:r>
            <a:r>
              <a:rPr b="1" lang="en" sz="1500">
                <a:solidFill>
                  <a:schemeClr val="dk1"/>
                </a:solidFill>
              </a:rPr>
              <a:t>much worse</a:t>
            </a:r>
            <a:r>
              <a:rPr lang="en" sz="1500">
                <a:solidFill>
                  <a:schemeClr val="dk1"/>
                </a:solidFill>
              </a:rPr>
              <a:t> (Val MAE ≈ 0.497).</a:t>
            </a:r>
            <a:br>
              <a:rPr lang="en" sz="1500">
                <a:solidFill>
                  <a:schemeClr val="dk1"/>
                </a:solidFill>
              </a:rPr>
            </a:br>
            <a:r>
              <a:rPr lang="en" sz="1500">
                <a:solidFill>
                  <a:schemeClr val="dk1"/>
                </a:solidFill>
              </a:rPr>
              <a:t> </a:t>
            </a:r>
            <a:r>
              <a:rPr b="1" lang="en" sz="1500">
                <a:solidFill>
                  <a:schemeClr val="dk1"/>
                </a:solidFill>
              </a:rPr>
              <a:t>Why this can happen on tabular MLPs:</a:t>
            </a:r>
            <a:br>
              <a:rPr b="1" lang="en" sz="1500">
                <a:solidFill>
                  <a:schemeClr val="dk1"/>
                </a:solidFill>
              </a:rPr>
            </a:br>
            <a:endParaRPr b="1"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You already standardized features; shallow MLP + small-ish batches can make BN’s batch stats noisy and volatile, hurting validation performance.</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BN shines more in deeper conv/sequence models or when activations drift; here, it’s not needed.</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Slide-ready takeaway (what to say)</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“On standardized tabular data, </a:t>
            </a:r>
            <a:r>
              <a:rPr b="1" lang="en" sz="1500">
                <a:solidFill>
                  <a:schemeClr val="dk1"/>
                </a:solidFill>
              </a:rPr>
              <a:t>light L2 + small dropout beat the plain MLP by ~3–4% on validation and ~2% on test</a:t>
            </a:r>
            <a:r>
              <a:rPr lang="en" sz="1500">
                <a:solidFill>
                  <a:schemeClr val="dk1"/>
                </a:solidFill>
              </a:rPr>
              <a:t>. </a:t>
            </a:r>
            <a:r>
              <a:rPr b="1" lang="en" sz="1500">
                <a:solidFill>
                  <a:schemeClr val="dk1"/>
                </a:solidFill>
              </a:rPr>
              <a:t>BatchNorm hurt</a:t>
            </a:r>
            <a:r>
              <a:rPr lang="en" sz="1500">
                <a:solidFill>
                  <a:schemeClr val="dk1"/>
                </a:solidFill>
              </a:rPr>
              <a:t> in this shallow, small-batch setting—consistent with the idea that BN’s batch statistics can be volatile. </a:t>
            </a:r>
            <a:r>
              <a:rPr b="1" lang="en" sz="1500">
                <a:solidFill>
                  <a:schemeClr val="dk1"/>
                </a:solidFill>
              </a:rPr>
              <a:t>Moral:</a:t>
            </a:r>
            <a:r>
              <a:rPr lang="en" sz="1500">
                <a:solidFill>
                  <a:schemeClr val="dk1"/>
                </a:solidFill>
              </a:rPr>
              <a:t> tune regularization to the dataset; don’t assume BN helps by default.”</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Why this matches the module’s guidance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Regularization</a:t>
            </a:r>
            <a:r>
              <a:rPr lang="en" sz="1500">
                <a:solidFill>
                  <a:schemeClr val="dk1"/>
                </a:solidFill>
              </a:rPr>
              <a:t> (L1/L2, dropout) curbs overfitting and improves generalization when calibrated.</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BN:</a:t>
            </a:r>
            <a:r>
              <a:rPr lang="en" sz="1500">
                <a:solidFill>
                  <a:schemeClr val="dk1"/>
                </a:solidFill>
              </a:rPr>
              <a:t> helpful for stabilizing activations, but batch size matters; small batches can lead to unstable estimates and poorer validation results.</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Process mindset:</a:t>
            </a:r>
            <a:r>
              <a:rPr lang="en" sz="1500">
                <a:solidFill>
                  <a:schemeClr val="dk1"/>
                </a:solidFill>
              </a:rPr>
              <a:t> iterate with validation data, watch the curves/metrics, and adjust hyperparameters to balance stability vs. capacity.</a:t>
            </a:r>
            <a:br>
              <a:rPr lang="en" sz="1500">
                <a:solidFill>
                  <a:schemeClr val="dk1"/>
                </a:solidFill>
              </a:rPr>
            </a:br>
            <a:endParaRPr sz="1500">
              <a:solidFill>
                <a:schemeClr val="dk1"/>
              </a:solidFill>
            </a:endParaRPr>
          </a:p>
          <a:p>
            <a:pPr indent="0" lvl="0" marL="0" rtl="0" algn="l">
              <a:lnSpc>
                <a:spcPct val="115000"/>
              </a:lnSpc>
              <a:spcBef>
                <a:spcPts val="1200"/>
              </a:spcBef>
              <a:spcAft>
                <a:spcPts val="1200"/>
              </a:spcAft>
              <a:buSzPts val="1100"/>
              <a:buNone/>
            </a:pPr>
            <a:r>
              <a:t/>
            </a:r>
            <a:endParaRPr sz="15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f285e5b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8f285e5b3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500">
                <a:solidFill>
                  <a:schemeClr val="dk1"/>
                </a:solidFill>
              </a:rPr>
              <a:t>“Here’s what this looks like in practice. On a standardized tabular task, a simple MLP can be tough to beat. In our runs, </a:t>
            </a:r>
            <a:r>
              <a:rPr b="1" lang="en" sz="1500">
                <a:solidFill>
                  <a:schemeClr val="dk1"/>
                </a:solidFill>
              </a:rPr>
              <a:t>light L2 plus small dropout</a:t>
            </a:r>
            <a:r>
              <a:rPr lang="en" sz="1500">
                <a:solidFill>
                  <a:schemeClr val="dk1"/>
                </a:solidFill>
              </a:rPr>
              <a:t> edged out the baseline, shrinking validation and test error a bit—exactly what you want from regularization. But </a:t>
            </a:r>
            <a:r>
              <a:rPr b="1" lang="en" sz="1500">
                <a:solidFill>
                  <a:schemeClr val="dk1"/>
                </a:solidFill>
              </a:rPr>
              <a:t>batch norm underperformed</a:t>
            </a:r>
            <a:r>
              <a:rPr lang="en" sz="1500">
                <a:solidFill>
                  <a:schemeClr val="dk1"/>
                </a:solidFill>
              </a:rPr>
              <a:t> here, which can happen with shallow MLPs and small-ish batches. The lesson: </a:t>
            </a:r>
            <a:r>
              <a:rPr b="1" lang="en" sz="1500">
                <a:solidFill>
                  <a:schemeClr val="dk1"/>
                </a:solidFill>
              </a:rPr>
              <a:t>tune to the data</a:t>
            </a:r>
            <a:r>
              <a:rPr lang="en" sz="1500">
                <a:solidFill>
                  <a:schemeClr val="dk1"/>
                </a:solidFill>
              </a:rPr>
              <a:t>. Normalization and regularization are tools, not defaults—use validation metrics to decide.”</a:t>
            </a:r>
            <a:endParaRPr sz="1500">
              <a:solidFill>
                <a:schemeClr val="dk1"/>
              </a:solidFill>
            </a:endParaRPr>
          </a:p>
          <a:p>
            <a:pPr indent="0" lvl="0" marL="0" rtl="0" algn="l">
              <a:lnSpc>
                <a:spcPct val="115000"/>
              </a:lnSpc>
              <a:spcBef>
                <a:spcPts val="1200"/>
              </a:spcBef>
              <a:spcAft>
                <a:spcPts val="0"/>
              </a:spcAft>
              <a:buSzPts val="1100"/>
              <a:buNone/>
            </a:pPr>
            <a:r>
              <a:t/>
            </a:r>
            <a:endParaRPr sz="1500">
              <a:solidFill>
                <a:schemeClr val="dk1"/>
              </a:solidFill>
            </a:endParaRPr>
          </a:p>
          <a:p>
            <a:pPr indent="0" lvl="0" marL="0" rtl="0" algn="l">
              <a:lnSpc>
                <a:spcPct val="115000"/>
              </a:lnSpc>
              <a:spcBef>
                <a:spcPts val="1200"/>
              </a:spcBef>
              <a:spcAft>
                <a:spcPts val="0"/>
              </a:spcAft>
              <a:buSzPts val="1100"/>
              <a:buNone/>
            </a:pPr>
            <a:r>
              <a:rPr lang="en" sz="1500">
                <a:solidFill>
                  <a:schemeClr val="dk1"/>
                </a:solidFill>
              </a:rPr>
              <a:t>Here’s the story your numbers tell:</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hyperparameter sweep</a:t>
            </a:r>
            <a:r>
              <a:rPr lang="en" sz="1500">
                <a:solidFill>
                  <a:schemeClr val="dk1"/>
                </a:solidFill>
              </a:rPr>
              <a:t>—you ran </a:t>
            </a:r>
            <a:r>
              <a:rPr b="1" lang="en" sz="1500">
                <a:solidFill>
                  <a:schemeClr val="dk1"/>
                </a:solidFill>
              </a:rPr>
              <a:t>multiple model variants</a:t>
            </a:r>
            <a:r>
              <a:rPr lang="en" sz="1500">
                <a:solidFill>
                  <a:schemeClr val="dk1"/>
                </a:solidFill>
              </a:rPr>
              <a:t> while “sweeping” over settings (e.g., L2 ∈ {1e-5, 5e-5}, dropout ∈ {0.1, 0.15, 0.2}, BN batch_size ∈ {64, 128}) and then compared them by validation MAE. “Sweep results” = summary of those trials.</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1) Light regularization &gt; baseline (small but real wins)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Best</a:t>
            </a:r>
            <a:r>
              <a:rPr lang="en" sz="1500">
                <a:solidFill>
                  <a:schemeClr val="dk1"/>
                </a:solidFill>
              </a:rPr>
              <a:t>: </a:t>
            </a:r>
            <a:r>
              <a:rPr lang="en" sz="1500">
                <a:solidFill>
                  <a:srgbClr val="188038"/>
                </a:solidFill>
                <a:latin typeface="Roboto Mono"/>
                <a:ea typeface="Roboto Mono"/>
                <a:cs typeface="Roboto Mono"/>
                <a:sym typeface="Roboto Mono"/>
              </a:rPr>
              <a:t>L2+Dropout (l2=1e-05, dr=0.1)</a:t>
            </a:r>
            <a:br>
              <a:rPr lang="en" sz="1500">
                <a:solidFill>
                  <a:srgbClr val="188038"/>
                </a:solidFill>
                <a:latin typeface="Roboto Mono"/>
                <a:ea typeface="Roboto Mono"/>
                <a:cs typeface="Roboto Mono"/>
                <a:sym typeface="Roboto Mono"/>
              </a:rPr>
            </a:br>
            <a:endParaRPr sz="1500">
              <a:solidFill>
                <a:srgbClr val="188038"/>
              </a:solidFill>
              <a:latin typeface="Roboto Mono"/>
              <a:ea typeface="Roboto Mono"/>
              <a:cs typeface="Roboto Mono"/>
              <a:sym typeface="Roboto Mono"/>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Val MAE</a:t>
            </a:r>
            <a:r>
              <a:rPr lang="en" sz="1500">
                <a:solidFill>
                  <a:schemeClr val="dk1"/>
                </a:solidFill>
              </a:rPr>
              <a:t> 0.3515 vs </a:t>
            </a:r>
            <a:r>
              <a:rPr b="1" lang="en" sz="1500">
                <a:solidFill>
                  <a:schemeClr val="dk1"/>
                </a:solidFill>
              </a:rPr>
              <a:t>Baseline</a:t>
            </a:r>
            <a:r>
              <a:rPr lang="en" sz="1500">
                <a:solidFill>
                  <a:schemeClr val="dk1"/>
                </a:solidFill>
              </a:rPr>
              <a:t> 0.3651 → ~</a:t>
            </a:r>
            <a:r>
              <a:rPr b="1" lang="en" sz="1500">
                <a:solidFill>
                  <a:schemeClr val="dk1"/>
                </a:solidFill>
              </a:rPr>
              <a:t>3.7%</a:t>
            </a:r>
            <a:r>
              <a:rPr lang="en" sz="1500">
                <a:solidFill>
                  <a:schemeClr val="dk1"/>
                </a:solidFill>
              </a:rPr>
              <a:t> lower ((0.3651−0.3515)/0.3651).</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Test MAE</a:t>
            </a:r>
            <a:r>
              <a:rPr lang="en" sz="1500">
                <a:solidFill>
                  <a:schemeClr val="dk1"/>
                </a:solidFill>
              </a:rPr>
              <a:t> 0.3510 vs </a:t>
            </a:r>
            <a:r>
              <a:rPr b="1" lang="en" sz="1500">
                <a:solidFill>
                  <a:schemeClr val="dk1"/>
                </a:solidFill>
              </a:rPr>
              <a:t>Baseline</a:t>
            </a:r>
            <a:r>
              <a:rPr lang="en" sz="1500">
                <a:solidFill>
                  <a:schemeClr val="dk1"/>
                </a:solidFill>
              </a:rPr>
              <a:t> 0.3591 → ~</a:t>
            </a:r>
            <a:r>
              <a:rPr b="1" lang="en" sz="1500">
                <a:solidFill>
                  <a:schemeClr val="dk1"/>
                </a:solidFill>
              </a:rPr>
              <a:t>2.3%</a:t>
            </a:r>
            <a:r>
              <a:rPr lang="en" sz="1500">
                <a:solidFill>
                  <a:schemeClr val="dk1"/>
                </a:solidFill>
              </a:rPr>
              <a:t> lower.</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MSE drops similarly (Val: 0.2663 vs 0.2758; Test: 0.2646 vs 0.2716).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a </a:t>
            </a:r>
            <a:r>
              <a:rPr i="1" lang="en" sz="1500">
                <a:solidFill>
                  <a:schemeClr val="dk1"/>
                </a:solidFill>
              </a:rPr>
              <a:t>light</a:t>
            </a:r>
            <a:r>
              <a:rPr lang="en" sz="1500">
                <a:solidFill>
                  <a:schemeClr val="dk1"/>
                </a:solidFill>
              </a:rPr>
              <a:t> touch of L2 + modest dropout finds a sweet spot that reduces overfitting without adding much bias—exactly what regularization aims to do.</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2) Heavier regularization starts to underfit</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As dropout rises (0.15–0.20) and/or L2 increases (5e-05), </a:t>
            </a:r>
            <a:r>
              <a:rPr b="1" lang="en" sz="1500">
                <a:solidFill>
                  <a:schemeClr val="dk1"/>
                </a:solidFill>
              </a:rPr>
              <a:t>Val/Test MAE creep up</a:t>
            </a:r>
            <a:r>
              <a:rPr lang="en" sz="1500">
                <a:solidFill>
                  <a:schemeClr val="dk1"/>
                </a:solidFill>
              </a:rPr>
              <a:t> (rows 2–6).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push regularization too hard and you lose signal → higher bias.</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3) BatchNorm underperforms here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BN variants are </a:t>
            </a:r>
            <a:r>
              <a:rPr b="1" lang="en" sz="1500">
                <a:solidFill>
                  <a:schemeClr val="dk1"/>
                </a:solidFill>
              </a:rPr>
              <a:t>much worse</a:t>
            </a:r>
            <a:r>
              <a:rPr lang="en" sz="1500">
                <a:solidFill>
                  <a:schemeClr val="dk1"/>
                </a:solidFill>
              </a:rPr>
              <a:t> (Val MAE ≈ 0.497).</a:t>
            </a:r>
            <a:br>
              <a:rPr lang="en" sz="1500">
                <a:solidFill>
                  <a:schemeClr val="dk1"/>
                </a:solidFill>
              </a:rPr>
            </a:br>
            <a:r>
              <a:rPr lang="en" sz="1500">
                <a:solidFill>
                  <a:schemeClr val="dk1"/>
                </a:solidFill>
              </a:rPr>
              <a:t> </a:t>
            </a:r>
            <a:r>
              <a:rPr b="1" lang="en" sz="1500">
                <a:solidFill>
                  <a:schemeClr val="dk1"/>
                </a:solidFill>
              </a:rPr>
              <a:t>Why this can happen on tabular MLPs:</a:t>
            </a:r>
            <a:br>
              <a:rPr b="1" lang="en" sz="1500">
                <a:solidFill>
                  <a:schemeClr val="dk1"/>
                </a:solidFill>
              </a:rPr>
            </a:br>
            <a:endParaRPr b="1"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You already standardized features; shallow MLP + small-ish batches can make BN’s batch stats noisy and volatile, hurting validation performance.</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BN shines more in deeper conv/sequence models or when activations drift; here, it’s not needed.</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Slide-ready takeaway (what to say)</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“On standardized tabular data, </a:t>
            </a:r>
            <a:r>
              <a:rPr b="1" lang="en" sz="1500">
                <a:solidFill>
                  <a:schemeClr val="dk1"/>
                </a:solidFill>
              </a:rPr>
              <a:t>light L2 + small dropout beat the plain MLP by ~3–4% on validation and ~2% on test</a:t>
            </a:r>
            <a:r>
              <a:rPr lang="en" sz="1500">
                <a:solidFill>
                  <a:schemeClr val="dk1"/>
                </a:solidFill>
              </a:rPr>
              <a:t>. </a:t>
            </a:r>
            <a:r>
              <a:rPr b="1" lang="en" sz="1500">
                <a:solidFill>
                  <a:schemeClr val="dk1"/>
                </a:solidFill>
              </a:rPr>
              <a:t>BatchNorm hurt</a:t>
            </a:r>
            <a:r>
              <a:rPr lang="en" sz="1500">
                <a:solidFill>
                  <a:schemeClr val="dk1"/>
                </a:solidFill>
              </a:rPr>
              <a:t> in this shallow, small-batch setting—consistent with the idea that BN’s batch statistics can be volatile. </a:t>
            </a:r>
            <a:r>
              <a:rPr b="1" lang="en" sz="1500">
                <a:solidFill>
                  <a:schemeClr val="dk1"/>
                </a:solidFill>
              </a:rPr>
              <a:t>Moral:</a:t>
            </a:r>
            <a:r>
              <a:rPr lang="en" sz="1500">
                <a:solidFill>
                  <a:schemeClr val="dk1"/>
                </a:solidFill>
              </a:rPr>
              <a:t> tune regularization to the dataset; don’t assume BN helps by default.”</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Why this matches the module’s guidance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Regularization</a:t>
            </a:r>
            <a:r>
              <a:rPr lang="en" sz="1500">
                <a:solidFill>
                  <a:schemeClr val="dk1"/>
                </a:solidFill>
              </a:rPr>
              <a:t> (L1/L2, dropout) curbs overfitting and improves generalization when calibrated.</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BN:</a:t>
            </a:r>
            <a:r>
              <a:rPr lang="en" sz="1500">
                <a:solidFill>
                  <a:schemeClr val="dk1"/>
                </a:solidFill>
              </a:rPr>
              <a:t> helpful for stabilizing activations, but batch size matters; small batches can lead to unstable estimates and poorer validation results.</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Process mindset:</a:t>
            </a:r>
            <a:r>
              <a:rPr lang="en" sz="1500">
                <a:solidFill>
                  <a:schemeClr val="dk1"/>
                </a:solidFill>
              </a:rPr>
              <a:t> iterate with validation data, watch the curves/metrics, and adjust hyperparameters to balance stability vs. capacity.</a:t>
            </a:r>
            <a:br>
              <a:rPr lang="en" sz="1500">
                <a:solidFill>
                  <a:schemeClr val="dk1"/>
                </a:solidFill>
              </a:rPr>
            </a:br>
            <a:endParaRPr sz="1500">
              <a:solidFill>
                <a:schemeClr val="dk1"/>
              </a:solidFill>
            </a:endParaRPr>
          </a:p>
          <a:p>
            <a:pPr indent="0" lvl="0" marL="0" rtl="0" algn="l">
              <a:lnSpc>
                <a:spcPct val="115000"/>
              </a:lnSpc>
              <a:spcBef>
                <a:spcPts val="1200"/>
              </a:spcBef>
              <a:spcAft>
                <a:spcPts val="1200"/>
              </a:spcAft>
              <a:buSzPts val="1100"/>
              <a:buNone/>
            </a:pPr>
            <a:r>
              <a:t/>
            </a:r>
            <a:endParaRPr sz="15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f285e5b3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8f285e5b3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500">
                <a:solidFill>
                  <a:schemeClr val="dk1"/>
                </a:solidFill>
              </a:rPr>
              <a:t>“Here’s what this looks like in practice. On a standardized tabular task, a simple MLP can be tough to beat. In our runs, </a:t>
            </a:r>
            <a:r>
              <a:rPr b="1" lang="en" sz="1500">
                <a:solidFill>
                  <a:schemeClr val="dk1"/>
                </a:solidFill>
              </a:rPr>
              <a:t>light L2 plus small dropout</a:t>
            </a:r>
            <a:r>
              <a:rPr lang="en" sz="1500">
                <a:solidFill>
                  <a:schemeClr val="dk1"/>
                </a:solidFill>
              </a:rPr>
              <a:t> edged out the baseline, shrinking validation and test error a bit—exactly what you want from regularization. But </a:t>
            </a:r>
            <a:r>
              <a:rPr b="1" lang="en" sz="1500">
                <a:solidFill>
                  <a:schemeClr val="dk1"/>
                </a:solidFill>
              </a:rPr>
              <a:t>batch norm underperformed</a:t>
            </a:r>
            <a:r>
              <a:rPr lang="en" sz="1500">
                <a:solidFill>
                  <a:schemeClr val="dk1"/>
                </a:solidFill>
              </a:rPr>
              <a:t> here, which can happen with shallow MLPs and small-ish batches. The lesson: </a:t>
            </a:r>
            <a:r>
              <a:rPr b="1" lang="en" sz="1500">
                <a:solidFill>
                  <a:schemeClr val="dk1"/>
                </a:solidFill>
              </a:rPr>
              <a:t>tune to the data</a:t>
            </a:r>
            <a:r>
              <a:rPr lang="en" sz="1500">
                <a:solidFill>
                  <a:schemeClr val="dk1"/>
                </a:solidFill>
              </a:rPr>
              <a:t>. Normalization and regularization are tools, not defaults—use validation metrics to decide.”</a:t>
            </a:r>
            <a:endParaRPr sz="1500">
              <a:solidFill>
                <a:schemeClr val="dk1"/>
              </a:solidFill>
            </a:endParaRPr>
          </a:p>
          <a:p>
            <a:pPr indent="0" lvl="0" marL="0" rtl="0" algn="l">
              <a:lnSpc>
                <a:spcPct val="115000"/>
              </a:lnSpc>
              <a:spcBef>
                <a:spcPts val="1200"/>
              </a:spcBef>
              <a:spcAft>
                <a:spcPts val="0"/>
              </a:spcAft>
              <a:buSzPts val="1100"/>
              <a:buNone/>
            </a:pPr>
            <a:r>
              <a:t/>
            </a:r>
            <a:endParaRPr sz="1500">
              <a:solidFill>
                <a:schemeClr val="dk1"/>
              </a:solidFill>
            </a:endParaRPr>
          </a:p>
          <a:p>
            <a:pPr indent="0" lvl="0" marL="0" rtl="0" algn="l">
              <a:lnSpc>
                <a:spcPct val="115000"/>
              </a:lnSpc>
              <a:spcBef>
                <a:spcPts val="1200"/>
              </a:spcBef>
              <a:spcAft>
                <a:spcPts val="0"/>
              </a:spcAft>
              <a:buSzPts val="1100"/>
              <a:buNone/>
            </a:pPr>
            <a:r>
              <a:rPr lang="en" sz="1500">
                <a:solidFill>
                  <a:schemeClr val="dk1"/>
                </a:solidFill>
              </a:rPr>
              <a:t>Here’s the story your numbers tell:</a:t>
            </a:r>
            <a:endParaRPr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hyperparameter sweep</a:t>
            </a:r>
            <a:r>
              <a:rPr lang="en" sz="1500">
                <a:solidFill>
                  <a:schemeClr val="dk1"/>
                </a:solidFill>
              </a:rPr>
              <a:t>—you ran </a:t>
            </a:r>
            <a:r>
              <a:rPr b="1" lang="en" sz="1500">
                <a:solidFill>
                  <a:schemeClr val="dk1"/>
                </a:solidFill>
              </a:rPr>
              <a:t>multiple model variants</a:t>
            </a:r>
            <a:r>
              <a:rPr lang="en" sz="1500">
                <a:solidFill>
                  <a:schemeClr val="dk1"/>
                </a:solidFill>
              </a:rPr>
              <a:t> while “sweeping” over settings (e.g., L2 ∈ {1e-5, 5e-5}, dropout ∈ {0.1, 0.15, 0.2}, BN batch_size ∈ {64, 128}) and then compared them by validation MAE. “Sweep results” = summary of those trials.</a:t>
            </a: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1) Light regularization &gt; baseline (small but real wins)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Best</a:t>
            </a:r>
            <a:r>
              <a:rPr lang="en" sz="1500">
                <a:solidFill>
                  <a:schemeClr val="dk1"/>
                </a:solidFill>
              </a:rPr>
              <a:t>: </a:t>
            </a:r>
            <a:r>
              <a:rPr lang="en" sz="1500">
                <a:solidFill>
                  <a:srgbClr val="188038"/>
                </a:solidFill>
                <a:latin typeface="Roboto Mono"/>
                <a:ea typeface="Roboto Mono"/>
                <a:cs typeface="Roboto Mono"/>
                <a:sym typeface="Roboto Mono"/>
              </a:rPr>
              <a:t>L2+Dropout (l2=1e-05, dr=0.1)</a:t>
            </a:r>
            <a:br>
              <a:rPr lang="en" sz="1500">
                <a:solidFill>
                  <a:srgbClr val="188038"/>
                </a:solidFill>
                <a:latin typeface="Roboto Mono"/>
                <a:ea typeface="Roboto Mono"/>
                <a:cs typeface="Roboto Mono"/>
                <a:sym typeface="Roboto Mono"/>
              </a:rPr>
            </a:br>
            <a:endParaRPr sz="1500">
              <a:solidFill>
                <a:srgbClr val="188038"/>
              </a:solidFill>
              <a:latin typeface="Roboto Mono"/>
              <a:ea typeface="Roboto Mono"/>
              <a:cs typeface="Roboto Mono"/>
              <a:sym typeface="Roboto Mono"/>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Val MAE</a:t>
            </a:r>
            <a:r>
              <a:rPr lang="en" sz="1500">
                <a:solidFill>
                  <a:schemeClr val="dk1"/>
                </a:solidFill>
              </a:rPr>
              <a:t> 0.3515 vs </a:t>
            </a:r>
            <a:r>
              <a:rPr b="1" lang="en" sz="1500">
                <a:solidFill>
                  <a:schemeClr val="dk1"/>
                </a:solidFill>
              </a:rPr>
              <a:t>Baseline</a:t>
            </a:r>
            <a:r>
              <a:rPr lang="en" sz="1500">
                <a:solidFill>
                  <a:schemeClr val="dk1"/>
                </a:solidFill>
              </a:rPr>
              <a:t> 0.3651 → ~</a:t>
            </a:r>
            <a:r>
              <a:rPr b="1" lang="en" sz="1500">
                <a:solidFill>
                  <a:schemeClr val="dk1"/>
                </a:solidFill>
              </a:rPr>
              <a:t>3.7%</a:t>
            </a:r>
            <a:r>
              <a:rPr lang="en" sz="1500">
                <a:solidFill>
                  <a:schemeClr val="dk1"/>
                </a:solidFill>
              </a:rPr>
              <a:t> lower ((0.3651−0.3515)/0.3651).</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b="1" lang="en" sz="1500">
                <a:solidFill>
                  <a:schemeClr val="dk1"/>
                </a:solidFill>
              </a:rPr>
              <a:t>Test MAE</a:t>
            </a:r>
            <a:r>
              <a:rPr lang="en" sz="1500">
                <a:solidFill>
                  <a:schemeClr val="dk1"/>
                </a:solidFill>
              </a:rPr>
              <a:t> 0.3510 vs </a:t>
            </a:r>
            <a:r>
              <a:rPr b="1" lang="en" sz="1500">
                <a:solidFill>
                  <a:schemeClr val="dk1"/>
                </a:solidFill>
              </a:rPr>
              <a:t>Baseline</a:t>
            </a:r>
            <a:r>
              <a:rPr lang="en" sz="1500">
                <a:solidFill>
                  <a:schemeClr val="dk1"/>
                </a:solidFill>
              </a:rPr>
              <a:t> 0.3591 → ~</a:t>
            </a:r>
            <a:r>
              <a:rPr b="1" lang="en" sz="1500">
                <a:solidFill>
                  <a:schemeClr val="dk1"/>
                </a:solidFill>
              </a:rPr>
              <a:t>2.3%</a:t>
            </a:r>
            <a:r>
              <a:rPr lang="en" sz="1500">
                <a:solidFill>
                  <a:schemeClr val="dk1"/>
                </a:solidFill>
              </a:rPr>
              <a:t> lower.</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MSE drops similarly (Val: 0.2663 vs 0.2758; Test: 0.2646 vs 0.2716).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a </a:t>
            </a:r>
            <a:r>
              <a:rPr i="1" lang="en" sz="1500">
                <a:solidFill>
                  <a:schemeClr val="dk1"/>
                </a:solidFill>
              </a:rPr>
              <a:t>light</a:t>
            </a:r>
            <a:r>
              <a:rPr lang="en" sz="1500">
                <a:solidFill>
                  <a:schemeClr val="dk1"/>
                </a:solidFill>
              </a:rPr>
              <a:t> touch of L2 + modest dropout finds a sweet spot that reduces overfitting without adding much bias—exactly what regularization aims to do.</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2) Heavier regularization starts to underfit</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As dropout rises (0.15–0.20) and/or L2 increases (5e-05), </a:t>
            </a:r>
            <a:r>
              <a:rPr b="1" lang="en" sz="1500">
                <a:solidFill>
                  <a:schemeClr val="dk1"/>
                </a:solidFill>
              </a:rPr>
              <a:t>Val/Test MAE creep up</a:t>
            </a:r>
            <a:r>
              <a:rPr lang="en" sz="1500">
                <a:solidFill>
                  <a:schemeClr val="dk1"/>
                </a:solidFill>
              </a:rPr>
              <a:t> (rows 2–6).</a:t>
            </a:r>
            <a:br>
              <a:rPr lang="en" sz="1500">
                <a:solidFill>
                  <a:schemeClr val="dk1"/>
                </a:solidFill>
              </a:rPr>
            </a:br>
            <a:r>
              <a:rPr lang="en" sz="1500">
                <a:solidFill>
                  <a:schemeClr val="dk1"/>
                </a:solidFill>
              </a:rPr>
              <a:t> </a:t>
            </a:r>
            <a:r>
              <a:rPr b="1" lang="en" sz="1500">
                <a:solidFill>
                  <a:schemeClr val="dk1"/>
                </a:solidFill>
              </a:rPr>
              <a:t>Interpretation:</a:t>
            </a:r>
            <a:r>
              <a:rPr lang="en" sz="1500">
                <a:solidFill>
                  <a:schemeClr val="dk1"/>
                </a:solidFill>
              </a:rPr>
              <a:t> push regularization too hard and you lose signal → higher bias.</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3) BatchNorm underperforms here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BN variants are </a:t>
            </a:r>
            <a:r>
              <a:rPr b="1" lang="en" sz="1500">
                <a:solidFill>
                  <a:schemeClr val="dk1"/>
                </a:solidFill>
              </a:rPr>
              <a:t>much worse</a:t>
            </a:r>
            <a:r>
              <a:rPr lang="en" sz="1500">
                <a:solidFill>
                  <a:schemeClr val="dk1"/>
                </a:solidFill>
              </a:rPr>
              <a:t> (Val MAE ≈ 0.497).</a:t>
            </a:r>
            <a:br>
              <a:rPr lang="en" sz="1500">
                <a:solidFill>
                  <a:schemeClr val="dk1"/>
                </a:solidFill>
              </a:rPr>
            </a:br>
            <a:r>
              <a:rPr lang="en" sz="1500">
                <a:solidFill>
                  <a:schemeClr val="dk1"/>
                </a:solidFill>
              </a:rPr>
              <a:t> </a:t>
            </a:r>
            <a:r>
              <a:rPr b="1" lang="en" sz="1500">
                <a:solidFill>
                  <a:schemeClr val="dk1"/>
                </a:solidFill>
              </a:rPr>
              <a:t>Why this can happen on tabular MLPs:</a:t>
            </a:r>
            <a:br>
              <a:rPr b="1" lang="en" sz="1500">
                <a:solidFill>
                  <a:schemeClr val="dk1"/>
                </a:solidFill>
              </a:rPr>
            </a:br>
            <a:endParaRPr b="1"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You already standardized features; shallow MLP + small-ish batches can make BN’s batch stats noisy and volatile, hurting validation performance.</a:t>
            </a:r>
            <a:br>
              <a:rPr lang="en" sz="1500">
                <a:solidFill>
                  <a:schemeClr val="dk1"/>
                </a:solidFill>
              </a:rPr>
            </a:b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rPr>
              <a:t>BN shines more in deeper conv/sequence models or when activations drift; here, it’s not needed.</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Slide-ready takeaway (what to say)</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“On standardized tabular data, </a:t>
            </a:r>
            <a:r>
              <a:rPr b="1" lang="en" sz="1500">
                <a:solidFill>
                  <a:schemeClr val="dk1"/>
                </a:solidFill>
              </a:rPr>
              <a:t>light L2 + small dropout beat the plain MLP by ~3–4% on validation and ~2% on test</a:t>
            </a:r>
            <a:r>
              <a:rPr lang="en" sz="1500">
                <a:solidFill>
                  <a:schemeClr val="dk1"/>
                </a:solidFill>
              </a:rPr>
              <a:t>. </a:t>
            </a:r>
            <a:r>
              <a:rPr b="1" lang="en" sz="1500">
                <a:solidFill>
                  <a:schemeClr val="dk1"/>
                </a:solidFill>
              </a:rPr>
              <a:t>BatchNorm hurt</a:t>
            </a:r>
            <a:r>
              <a:rPr lang="en" sz="1500">
                <a:solidFill>
                  <a:schemeClr val="dk1"/>
                </a:solidFill>
              </a:rPr>
              <a:t> in this shallow, small-batch setting—consistent with the idea that BN’s batch statistics can be volatile. </a:t>
            </a:r>
            <a:r>
              <a:rPr b="1" lang="en" sz="1500">
                <a:solidFill>
                  <a:schemeClr val="dk1"/>
                </a:solidFill>
              </a:rPr>
              <a:t>Moral:</a:t>
            </a:r>
            <a:r>
              <a:rPr lang="en" sz="1500">
                <a:solidFill>
                  <a:schemeClr val="dk1"/>
                </a:solidFill>
              </a:rPr>
              <a:t> tune regularization to the dataset; don’t assume BN helps by default.”</a:t>
            </a:r>
            <a:br>
              <a:rPr lang="en" sz="1500">
                <a:solidFill>
                  <a:schemeClr val="dk1"/>
                </a:solidFill>
              </a:rPr>
            </a:br>
            <a:endParaRPr sz="15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700">
                <a:solidFill>
                  <a:schemeClr val="dk1"/>
                </a:solidFill>
              </a:rPr>
              <a:t>Why this matches the module’s guidance</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b="1" lang="en" sz="1500">
                <a:solidFill>
                  <a:schemeClr val="dk1"/>
                </a:solidFill>
              </a:rPr>
              <a:t>Regularization</a:t>
            </a:r>
            <a:r>
              <a:rPr lang="en" sz="1500">
                <a:solidFill>
                  <a:schemeClr val="dk1"/>
                </a:solidFill>
              </a:rPr>
              <a:t> (L1/L2, dropout) curbs overfitting and improves generalization when calibrated.</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BN:</a:t>
            </a:r>
            <a:r>
              <a:rPr lang="en" sz="1500">
                <a:solidFill>
                  <a:schemeClr val="dk1"/>
                </a:solidFill>
              </a:rPr>
              <a:t> helpful for stabilizing activations, but batch size matters; small batches can lead to unstable estimates and poorer validation results.</a:t>
            </a:r>
            <a:br>
              <a:rPr lang="en"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b="1" lang="en" sz="1500">
                <a:solidFill>
                  <a:schemeClr val="dk1"/>
                </a:solidFill>
              </a:rPr>
              <a:t>Process mindset:</a:t>
            </a:r>
            <a:r>
              <a:rPr lang="en" sz="1500">
                <a:solidFill>
                  <a:schemeClr val="dk1"/>
                </a:solidFill>
              </a:rPr>
              <a:t> iterate with validation data, watch the curves/metrics, and adjust hyperparameters to balance stability vs. capacity.</a:t>
            </a:r>
            <a:br>
              <a:rPr lang="en" sz="1500">
                <a:solidFill>
                  <a:schemeClr val="dk1"/>
                </a:solidFill>
              </a:rPr>
            </a:br>
            <a:endParaRPr sz="1500">
              <a:solidFill>
                <a:schemeClr val="dk1"/>
              </a:solidFill>
            </a:endParaRPr>
          </a:p>
          <a:p>
            <a:pPr indent="0" lvl="0" marL="0" rtl="0" algn="l">
              <a:lnSpc>
                <a:spcPct val="115000"/>
              </a:lnSpc>
              <a:spcBef>
                <a:spcPts val="1200"/>
              </a:spcBef>
              <a:spcAft>
                <a:spcPts val="1200"/>
              </a:spcAft>
              <a:buSzPts val="1100"/>
              <a:buNone/>
            </a:pPr>
            <a:r>
              <a:t/>
            </a:r>
            <a:endParaRPr sz="15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d50292c37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7d50292c37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sz="1800">
                <a:solidFill>
                  <a:schemeClr val="dk1"/>
                </a:solidFill>
              </a:rPr>
              <a:t>“Normalization </a:t>
            </a:r>
            <a:r>
              <a:rPr b="1" lang="en" sz="1800">
                <a:solidFill>
                  <a:schemeClr val="dk1"/>
                </a:solidFill>
              </a:rPr>
              <a:t>stabilizes</a:t>
            </a:r>
            <a:r>
              <a:rPr lang="en" sz="1800">
                <a:solidFill>
                  <a:schemeClr val="dk1"/>
                </a:solidFill>
              </a:rPr>
              <a:t> training and speeds learning. Regularization </a:t>
            </a:r>
            <a:r>
              <a:rPr b="1" lang="en" sz="1800">
                <a:solidFill>
                  <a:schemeClr val="dk1"/>
                </a:solidFill>
              </a:rPr>
              <a:t>controls complexity</a:t>
            </a:r>
            <a:r>
              <a:rPr lang="en" sz="1800">
                <a:solidFill>
                  <a:schemeClr val="dk1"/>
                </a:solidFill>
              </a:rPr>
              <a:t> so models generalize. Use a simple workflow: scale → design → regularize → validate → fine-tune. Let your validation results guide when to add batch norm and how much regularization to use. Mastering these fundamentals turns deep learning from fragile to </a:t>
            </a:r>
            <a:r>
              <a:rPr b="1" lang="en" sz="1800">
                <a:solidFill>
                  <a:schemeClr val="dk1"/>
                </a:solidFill>
              </a:rPr>
              <a:t>production-ready</a:t>
            </a:r>
            <a:endParaRPr sz="18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17"/>
          <p:cNvSpPr txBox="1"/>
          <p:nvPr>
            <p:ph type="title"/>
          </p:nvPr>
        </p:nvSpPr>
        <p:spPr>
          <a:xfrm>
            <a:off x="407194" y="178941"/>
            <a:ext cx="7886700" cy="654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200"/>
              <a:buNone/>
              <a:defRPr sz="3000">
                <a:solidFill>
                  <a:srgbClr val="002060"/>
                </a:solidFill>
                <a:latin typeface="Karla"/>
                <a:ea typeface="Karla"/>
                <a:cs typeface="Karla"/>
                <a:sym typeface="Karla"/>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5" name="Google Shape;15;p17"/>
          <p:cNvSpPr txBox="1"/>
          <p:nvPr>
            <p:ph idx="1" type="body"/>
          </p:nvPr>
        </p:nvSpPr>
        <p:spPr>
          <a:xfrm>
            <a:off x="400050" y="10263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sz="1200">
                <a:latin typeface="Karla"/>
                <a:ea typeface="Karla"/>
                <a:cs typeface="Karla"/>
                <a:sym typeface="Karla"/>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 name="Google Shape;16;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Karla"/>
                <a:ea typeface="Karla"/>
                <a:cs typeface="Karla"/>
                <a:sym typeface="Karl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Karla"/>
                <a:ea typeface="Karla"/>
                <a:cs typeface="Karla"/>
                <a:sym typeface="Karl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p17"/>
          <p:cNvSpPr txBox="1"/>
          <p:nvPr>
            <p:ph idx="12" type="sldNum"/>
          </p:nvPr>
        </p:nvSpPr>
        <p:spPr>
          <a:xfrm>
            <a:off x="8688150" y="4767275"/>
            <a:ext cx="3606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Karla"/>
                <a:ea typeface="Karla"/>
                <a:cs typeface="Karla"/>
                <a:sym typeface="Karl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59" name="Shape 59"/>
        <p:cNvGrpSpPr/>
        <p:nvPr/>
      </p:nvGrpSpPr>
      <p:grpSpPr>
        <a:xfrm>
          <a:off x="0" y="0"/>
          <a:ext cx="0" cy="0"/>
          <a:chOff x="0" y="0"/>
          <a:chExt cx="0" cy="0"/>
        </a:xfrm>
      </p:grpSpPr>
      <p:pic>
        <p:nvPicPr>
          <p:cNvPr id="60" name="Google Shape;60;p1"/>
          <p:cNvPicPr preferRelativeResize="0"/>
          <p:nvPr/>
        </p:nvPicPr>
        <p:blipFill rotWithShape="1">
          <a:blip r:embed="rId3">
            <a:alphaModFix/>
          </a:blip>
          <a:srcRect b="-10" l="0" r="0" t="0"/>
          <a:stretch/>
        </p:blipFill>
        <p:spPr>
          <a:xfrm>
            <a:off x="488834" y="3548250"/>
            <a:ext cx="2094225" cy="222000"/>
          </a:xfrm>
          <a:prstGeom prst="rect">
            <a:avLst/>
          </a:prstGeom>
          <a:noFill/>
          <a:ln>
            <a:noFill/>
          </a:ln>
        </p:spPr>
      </p:pic>
      <p:sp>
        <p:nvSpPr>
          <p:cNvPr id="61" name="Google Shape;61;p1"/>
          <p:cNvSpPr txBox="1"/>
          <p:nvPr/>
        </p:nvSpPr>
        <p:spPr>
          <a:xfrm>
            <a:off x="286250" y="543075"/>
            <a:ext cx="4947000" cy="24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4100">
                <a:solidFill>
                  <a:srgbClr val="1B2630"/>
                </a:solidFill>
                <a:latin typeface="Fira Sans ExtraBold"/>
                <a:ea typeface="Fira Sans ExtraBold"/>
                <a:cs typeface="Fira Sans ExtraBold"/>
                <a:sym typeface="Fira Sans ExtraBold"/>
              </a:rPr>
              <a:t>Deep Learning with Normalization &amp; Regularization</a:t>
            </a:r>
            <a:endParaRPr b="0" i="0" sz="3400" u="none" cap="none" strike="noStrike">
              <a:solidFill>
                <a:srgbClr val="1B2630"/>
              </a:solidFill>
              <a:latin typeface="Fira Sans ExtraBold"/>
              <a:ea typeface="Fira Sans ExtraBold"/>
              <a:cs typeface="Fira Sans ExtraBold"/>
              <a:sym typeface="Fira Sans ExtraBold"/>
            </a:endParaRPr>
          </a:p>
          <a:p>
            <a:pPr indent="0" lvl="0" marL="0" marR="0" rtl="0" algn="l">
              <a:lnSpc>
                <a:spcPct val="100000"/>
              </a:lnSpc>
              <a:spcBef>
                <a:spcPts val="0"/>
              </a:spcBef>
              <a:spcAft>
                <a:spcPts val="0"/>
              </a:spcAft>
              <a:buClr>
                <a:srgbClr val="000000"/>
              </a:buClr>
              <a:buSzPts val="2400"/>
              <a:buFont typeface="Arial"/>
              <a:buNone/>
            </a:pPr>
            <a:r>
              <a:t/>
            </a:r>
            <a:endParaRPr b="0" i="0" sz="4600" u="none" cap="none" strike="noStrike">
              <a:solidFill>
                <a:srgbClr val="1B2630"/>
              </a:solidFill>
              <a:latin typeface="Fira Sans ExtraBold"/>
              <a:ea typeface="Fira Sans ExtraBold"/>
              <a:cs typeface="Fira Sans ExtraBold"/>
              <a:sym typeface="Fira Sans ExtraBold"/>
            </a:endParaRPr>
          </a:p>
        </p:txBody>
      </p:sp>
      <p:pic>
        <p:nvPicPr>
          <p:cNvPr id="62" name="Google Shape;62;p1"/>
          <p:cNvPicPr preferRelativeResize="0"/>
          <p:nvPr/>
        </p:nvPicPr>
        <p:blipFill rotWithShape="1">
          <a:blip r:embed="rId4">
            <a:alphaModFix/>
          </a:blip>
          <a:srcRect b="0" l="0" r="0" t="0"/>
          <a:stretch/>
        </p:blipFill>
        <p:spPr>
          <a:xfrm>
            <a:off x="4997689" y="8"/>
            <a:ext cx="4224356"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2"/>
          <p:cNvSpPr/>
          <p:nvPr/>
        </p:nvSpPr>
        <p:spPr>
          <a:xfrm>
            <a:off x="3398625"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68" name="Google Shape;68;p2"/>
          <p:cNvSpPr txBox="1"/>
          <p:nvPr/>
        </p:nvSpPr>
        <p:spPr>
          <a:xfrm>
            <a:off x="3315300" y="154800"/>
            <a:ext cx="2625900" cy="2545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200"/>
              <a:buFont typeface="Arial"/>
              <a:buNone/>
            </a:pPr>
            <a:r>
              <a:t/>
            </a:r>
            <a:endParaRPr b="0" i="0" sz="1100" u="none" cap="none" strike="noStrike">
              <a:solidFill>
                <a:schemeClr val="dk1"/>
              </a:solidFill>
              <a:latin typeface="Fira Sans"/>
              <a:ea typeface="Fira Sans"/>
              <a:cs typeface="Fira Sans"/>
              <a:sym typeface="Fira Sans"/>
            </a:endParaRPr>
          </a:p>
          <a:p>
            <a:pPr indent="-292100" lvl="0" marL="4572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Deep learning drives image recognition, NLP, recommendations, forecasting</a:t>
            </a:r>
            <a:endParaRPr sz="1000">
              <a:solidFill>
                <a:schemeClr val="dk1"/>
              </a:solidFill>
              <a:latin typeface="Fira Sans"/>
              <a:ea typeface="Fira Sans"/>
              <a:cs typeface="Fira Sans"/>
              <a:sym typeface="Fira Sans"/>
            </a:endParaRPr>
          </a:p>
          <a:p>
            <a:pPr indent="-292100" lvl="0" marL="4572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As models deepen, risk of vanishing/exploding gradients and overfitting rises</a:t>
            </a:r>
            <a:endParaRPr sz="1000">
              <a:solidFill>
                <a:schemeClr val="dk1"/>
              </a:solidFill>
              <a:latin typeface="Fira Sans"/>
              <a:ea typeface="Fira Sans"/>
              <a:cs typeface="Fira Sans"/>
              <a:sym typeface="Fira Sans"/>
            </a:endParaRPr>
          </a:p>
          <a:p>
            <a:pPr indent="-292100" lvl="0" marL="4572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Normalization + Regularization = essential tools to</a:t>
            </a:r>
            <a:endParaRPr sz="1000">
              <a:solidFill>
                <a:schemeClr val="dk1"/>
              </a:solidFill>
              <a:latin typeface="Fira Sans"/>
              <a:ea typeface="Fira Sans"/>
              <a:cs typeface="Fira Sans"/>
              <a:sym typeface="Fira Sans"/>
            </a:endParaRPr>
          </a:p>
          <a:p>
            <a:pPr indent="-292100" lvl="1" marL="9144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Stabilize training</a:t>
            </a:r>
            <a:endParaRPr sz="1000">
              <a:solidFill>
                <a:schemeClr val="dk1"/>
              </a:solidFill>
              <a:latin typeface="Fira Sans"/>
              <a:ea typeface="Fira Sans"/>
              <a:cs typeface="Fira Sans"/>
              <a:sym typeface="Fira Sans"/>
            </a:endParaRPr>
          </a:p>
          <a:p>
            <a:pPr indent="-292100" lvl="1" marL="9144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Prevent memorizing noise</a:t>
            </a:r>
            <a:endParaRPr sz="1000">
              <a:solidFill>
                <a:schemeClr val="dk1"/>
              </a:solidFill>
              <a:latin typeface="Fira Sans"/>
              <a:ea typeface="Fira Sans"/>
              <a:cs typeface="Fira Sans"/>
              <a:sym typeface="Fira Sans"/>
            </a:endParaRPr>
          </a:p>
          <a:p>
            <a:pPr indent="-292100" lvl="1" marL="914400" marR="0" rtl="0" algn="l">
              <a:lnSpc>
                <a:spcPct val="115000"/>
              </a:lnSpc>
              <a:spcBef>
                <a:spcPts val="1200"/>
              </a:spcBef>
              <a:spcAft>
                <a:spcPts val="0"/>
              </a:spcAft>
              <a:buClr>
                <a:schemeClr val="dk1"/>
              </a:buClr>
              <a:buSzPts val="1000"/>
              <a:buFont typeface="Fira Sans"/>
              <a:buChar char="○"/>
            </a:pPr>
            <a:r>
              <a:rPr lang="en" sz="1000">
                <a:solidFill>
                  <a:schemeClr val="dk1"/>
                </a:solidFill>
                <a:latin typeface="Fira Sans"/>
                <a:ea typeface="Fira Sans"/>
                <a:cs typeface="Fira Sans"/>
                <a:sym typeface="Fira Sans"/>
              </a:rPr>
              <a:t>Improve predictive reliability</a:t>
            </a:r>
            <a:endParaRPr sz="1000">
              <a:solidFill>
                <a:schemeClr val="dk1"/>
              </a:solidFill>
              <a:latin typeface="Fira Sans"/>
              <a:ea typeface="Fira Sans"/>
              <a:cs typeface="Fira Sans"/>
              <a:sym typeface="Fira Sans"/>
            </a:endParaRPr>
          </a:p>
          <a:p>
            <a:pPr indent="0" lvl="0" marL="457200" marR="0" rtl="0" algn="l">
              <a:lnSpc>
                <a:spcPct val="115000"/>
              </a:lnSpc>
              <a:spcBef>
                <a:spcPts val="1200"/>
              </a:spcBef>
              <a:spcAft>
                <a:spcPts val="0"/>
              </a:spcAft>
              <a:buClr>
                <a:srgbClr val="000000"/>
              </a:buClr>
              <a:buSzPts val="1100"/>
              <a:buFont typeface="Arial"/>
              <a:buNone/>
            </a:pPr>
            <a:r>
              <a:t/>
            </a:r>
            <a:endParaRPr b="0" i="0" sz="1000" u="none" cap="none" strike="noStrike">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100"/>
              <a:buFont typeface="Arial"/>
              <a:buNone/>
            </a:pPr>
            <a:r>
              <a:t/>
            </a:r>
            <a:endParaRPr b="0" i="0" sz="1000" u="none" cap="none" strike="noStrike">
              <a:solidFill>
                <a:schemeClr val="dk1"/>
              </a:solidFill>
              <a:latin typeface="Fira Sans"/>
              <a:ea typeface="Fira Sans"/>
              <a:cs typeface="Fira Sans"/>
              <a:sym typeface="Fira Sans"/>
            </a:endParaRPr>
          </a:p>
        </p:txBody>
      </p:sp>
      <p:sp>
        <p:nvSpPr>
          <p:cNvPr id="69" name="Google Shape;69;p2"/>
          <p:cNvSpPr txBox="1"/>
          <p:nvPr>
            <p:ph idx="4294967295" type="ctrTitle"/>
          </p:nvPr>
        </p:nvSpPr>
        <p:spPr>
          <a:xfrm>
            <a:off x="351375" y="1042675"/>
            <a:ext cx="3090300" cy="179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600">
                <a:solidFill>
                  <a:srgbClr val="1B2630"/>
                </a:solidFill>
                <a:latin typeface="Fira Sans"/>
                <a:ea typeface="Fira Sans"/>
                <a:cs typeface="Fira Sans"/>
                <a:sym typeface="Fira Sans"/>
              </a:rPr>
              <a:t>Why this matters</a:t>
            </a:r>
            <a:endParaRPr b="1" i="0" sz="3600" u="none" cap="none" strike="noStrike">
              <a:solidFill>
                <a:srgbClr val="1B2630"/>
              </a:solidFill>
              <a:latin typeface="Fira Sans"/>
              <a:ea typeface="Fira Sans"/>
              <a:cs typeface="Fira Sans"/>
              <a:sym typeface="Fira Sans"/>
            </a:endParaRPr>
          </a:p>
          <a:p>
            <a:pPr indent="0" lvl="0" marL="0" marR="0" rtl="0" algn="l">
              <a:lnSpc>
                <a:spcPct val="100000"/>
              </a:lnSpc>
              <a:spcBef>
                <a:spcPts val="0"/>
              </a:spcBef>
              <a:spcAft>
                <a:spcPts val="0"/>
              </a:spcAft>
              <a:buClr>
                <a:schemeClr val="dk1"/>
              </a:buClr>
              <a:buSzPts val="1100"/>
              <a:buFont typeface="Arial"/>
              <a:buNone/>
            </a:pPr>
            <a:r>
              <a:t/>
            </a:r>
            <a:endParaRPr b="1" i="0" sz="3600" u="none" cap="none" strike="noStrike">
              <a:solidFill>
                <a:srgbClr val="1B2630"/>
              </a:solidFill>
              <a:latin typeface="Fira Sans"/>
              <a:ea typeface="Fira Sans"/>
              <a:cs typeface="Fira Sans"/>
              <a:sym typeface="Fira Sans"/>
            </a:endParaRPr>
          </a:p>
          <a:p>
            <a:pPr indent="0" lvl="0" marL="0" marR="0" rtl="0" algn="l">
              <a:lnSpc>
                <a:spcPct val="100000"/>
              </a:lnSpc>
              <a:spcBef>
                <a:spcPts val="0"/>
              </a:spcBef>
              <a:spcAft>
                <a:spcPts val="0"/>
              </a:spcAft>
              <a:buClr>
                <a:schemeClr val="dk1"/>
              </a:buClr>
              <a:buSzPts val="1100"/>
              <a:buFont typeface="Arial"/>
              <a:buNone/>
            </a:pPr>
            <a:r>
              <a:t/>
            </a:r>
            <a:endParaRPr b="1" i="0" sz="3600" u="none" cap="none" strike="noStrike">
              <a:solidFill>
                <a:srgbClr val="1B2630"/>
              </a:solidFill>
              <a:latin typeface="Fira Sans"/>
              <a:ea typeface="Fira Sans"/>
              <a:cs typeface="Fira Sans"/>
              <a:sym typeface="Fir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g334eaa44383_0_39"/>
          <p:cNvSpPr/>
          <p:nvPr/>
        </p:nvSpPr>
        <p:spPr>
          <a:xfrm>
            <a:off x="3398700"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75" name="Google Shape;75;g334eaa44383_0_39"/>
          <p:cNvSpPr txBox="1"/>
          <p:nvPr/>
        </p:nvSpPr>
        <p:spPr>
          <a:xfrm>
            <a:off x="3200400" y="876975"/>
            <a:ext cx="3341700" cy="2532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Goal: Keep inputs &amp; layer activations on stable scales</a:t>
            </a:r>
            <a:endParaRPr sz="1100">
              <a:solidFill>
                <a:schemeClr val="dk1"/>
              </a:solidFill>
              <a:latin typeface="Fira Sans"/>
              <a:ea typeface="Fira Sans"/>
              <a:cs typeface="Fira Sans"/>
              <a:sym typeface="Fira Sans"/>
            </a:endParaRPr>
          </a:p>
          <a:p>
            <a:pPr indent="-298450" lvl="0" marL="4572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Benefits:</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Smooth gradient flow</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Faster convergence</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Balanced feature influence</a:t>
            </a:r>
            <a:endParaRPr sz="1100">
              <a:solidFill>
                <a:schemeClr val="dk1"/>
              </a:solidFill>
              <a:latin typeface="Fira Sans"/>
              <a:ea typeface="Fira Sans"/>
              <a:cs typeface="Fira Sans"/>
              <a:sym typeface="Fira Sans"/>
            </a:endParaRPr>
          </a:p>
          <a:p>
            <a:pPr indent="-298450" lvl="0" marL="4572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Examples</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Feature scaling: standardization or min-max</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Batch normalization: normalizes activations between layers</a:t>
            </a:r>
            <a:endParaRPr sz="1100">
              <a:solidFill>
                <a:schemeClr val="dk1"/>
              </a:solidFill>
              <a:latin typeface="Fira Sans"/>
              <a:ea typeface="Fira Sans"/>
              <a:cs typeface="Fira Sans"/>
              <a:sym typeface="Fira Sans"/>
            </a:endParaRPr>
          </a:p>
        </p:txBody>
      </p:sp>
      <p:sp>
        <p:nvSpPr>
          <p:cNvPr id="76" name="Google Shape;76;g334eaa44383_0_39"/>
          <p:cNvSpPr txBox="1"/>
          <p:nvPr>
            <p:ph idx="4294967295" type="ctrTitle"/>
          </p:nvPr>
        </p:nvSpPr>
        <p:spPr>
          <a:xfrm>
            <a:off x="322800" y="1043000"/>
            <a:ext cx="3075900" cy="140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400">
                <a:solidFill>
                  <a:srgbClr val="1B2630"/>
                </a:solidFill>
                <a:latin typeface="Fira Sans"/>
                <a:ea typeface="Fira Sans"/>
                <a:cs typeface="Fira Sans"/>
                <a:sym typeface="Fira Sans"/>
              </a:rPr>
              <a:t>Normalization - Core Idea</a:t>
            </a:r>
            <a:endParaRPr b="1" i="0" sz="3400" u="none" cap="none" strike="noStrike">
              <a:solidFill>
                <a:srgbClr val="1B2630"/>
              </a:solidFill>
              <a:latin typeface="Fira Sans"/>
              <a:ea typeface="Fira Sans"/>
              <a:cs typeface="Fira Sans"/>
              <a:sym typeface="Fira Sans"/>
            </a:endParaRPr>
          </a:p>
        </p:txBody>
      </p:sp>
      <p:sp>
        <p:nvSpPr>
          <p:cNvPr id="77" name="Google Shape;77;g334eaa44383_0_39"/>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sp>
        <p:nvSpPr>
          <p:cNvPr id="82" name="Google Shape;82;g334f63cf967_0_26"/>
          <p:cNvSpPr/>
          <p:nvPr/>
        </p:nvSpPr>
        <p:spPr>
          <a:xfrm>
            <a:off x="3398625" y="9525"/>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83" name="Google Shape;83;g334f63cf967_0_26"/>
          <p:cNvSpPr txBox="1"/>
          <p:nvPr/>
        </p:nvSpPr>
        <p:spPr>
          <a:xfrm>
            <a:off x="3348750" y="691625"/>
            <a:ext cx="3226800" cy="25323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1"/>
              </a:buClr>
              <a:buSzPts val="1000"/>
              <a:buFont typeface="Fira Sans"/>
              <a:buChar char="●"/>
            </a:pPr>
            <a:r>
              <a:rPr lang="en" sz="1100">
                <a:solidFill>
                  <a:schemeClr val="dk1"/>
                </a:solidFill>
                <a:latin typeface="Fira Sans"/>
                <a:ea typeface="Fira Sans"/>
                <a:cs typeface="Fira Sans"/>
                <a:sym typeface="Fira Sans"/>
              </a:rPr>
              <a:t>Goal: Constrain model complexity and improve </a:t>
            </a:r>
            <a:r>
              <a:rPr lang="en" sz="1100">
                <a:solidFill>
                  <a:schemeClr val="dk1"/>
                </a:solidFill>
                <a:latin typeface="Fira Sans"/>
                <a:ea typeface="Fira Sans"/>
                <a:cs typeface="Fira Sans"/>
                <a:sym typeface="Fira Sans"/>
              </a:rPr>
              <a:t>generalization</a:t>
            </a:r>
            <a:endParaRPr sz="1100">
              <a:solidFill>
                <a:schemeClr val="dk1"/>
              </a:solidFill>
              <a:latin typeface="Fira Sans"/>
              <a:ea typeface="Fira Sans"/>
              <a:cs typeface="Fira Sans"/>
              <a:sym typeface="Fira Sans"/>
            </a:endParaRPr>
          </a:p>
          <a:p>
            <a:pPr indent="-298450" lvl="0" marL="4572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Techniques</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L1/L2 weight decay: penalize large weights</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Dropout: randomly </a:t>
            </a:r>
            <a:r>
              <a:rPr lang="en" sz="1100">
                <a:solidFill>
                  <a:schemeClr val="dk1"/>
                </a:solidFill>
                <a:latin typeface="Fira Sans"/>
                <a:ea typeface="Fira Sans"/>
                <a:cs typeface="Fira Sans"/>
                <a:sym typeface="Fira Sans"/>
              </a:rPr>
              <a:t>deactivate</a:t>
            </a:r>
            <a:r>
              <a:rPr lang="en" sz="1100">
                <a:solidFill>
                  <a:schemeClr val="dk1"/>
                </a:solidFill>
                <a:latin typeface="Fira Sans"/>
                <a:ea typeface="Fira Sans"/>
                <a:cs typeface="Fira Sans"/>
                <a:sym typeface="Fira Sans"/>
              </a:rPr>
              <a:t> neurons turning training</a:t>
            </a:r>
            <a:endParaRPr sz="1100">
              <a:solidFill>
                <a:schemeClr val="dk1"/>
              </a:solidFill>
              <a:latin typeface="Fira Sans"/>
              <a:ea typeface="Fira Sans"/>
              <a:cs typeface="Fira Sans"/>
              <a:sym typeface="Fira Sans"/>
            </a:endParaRPr>
          </a:p>
          <a:p>
            <a:pPr indent="-298450" lvl="1" marL="9144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Early stopping: stop before overfitting begins</a:t>
            </a:r>
            <a:endParaRPr sz="1100">
              <a:solidFill>
                <a:schemeClr val="dk1"/>
              </a:solidFill>
              <a:latin typeface="Fira Sans"/>
              <a:ea typeface="Fira Sans"/>
              <a:cs typeface="Fira Sans"/>
              <a:sym typeface="Fira Sans"/>
            </a:endParaRPr>
          </a:p>
          <a:p>
            <a:pPr indent="-298450" lvl="0" marL="457200" marR="0" rtl="0" algn="l">
              <a:lnSpc>
                <a:spcPct val="115000"/>
              </a:lnSpc>
              <a:spcBef>
                <a:spcPts val="0"/>
              </a:spcBef>
              <a:spcAft>
                <a:spcPts val="0"/>
              </a:spcAft>
              <a:buClr>
                <a:schemeClr val="dk1"/>
              </a:buClr>
              <a:buSzPts val="1100"/>
              <a:buFont typeface="Fira Sans"/>
              <a:buChar char="●"/>
            </a:pPr>
            <a:r>
              <a:rPr lang="en" sz="1100">
                <a:solidFill>
                  <a:schemeClr val="dk1"/>
                </a:solidFill>
                <a:latin typeface="Fira Sans"/>
                <a:ea typeface="Fira Sans"/>
                <a:cs typeface="Fira Sans"/>
                <a:sym typeface="Fira Sans"/>
              </a:rPr>
              <a:t>OUtcome: robust models that avoid memorizing training data</a:t>
            </a:r>
            <a:endParaRPr sz="1100">
              <a:solidFill>
                <a:schemeClr val="dk1"/>
              </a:solidFill>
              <a:latin typeface="Fira Sans"/>
              <a:ea typeface="Fira Sans"/>
              <a:cs typeface="Fira Sans"/>
              <a:sym typeface="Fira Sans"/>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chemeClr val="dk1"/>
              </a:solidFill>
              <a:latin typeface="Fira Sans"/>
              <a:ea typeface="Fira Sans"/>
              <a:cs typeface="Fira Sans"/>
              <a:sym typeface="Fira Sans"/>
            </a:endParaRPr>
          </a:p>
        </p:txBody>
      </p:sp>
      <p:sp>
        <p:nvSpPr>
          <p:cNvPr id="84" name="Google Shape;84;g334f63cf967_0_26"/>
          <p:cNvSpPr txBox="1"/>
          <p:nvPr>
            <p:ph idx="4294967295" type="ctrTitle"/>
          </p:nvPr>
        </p:nvSpPr>
        <p:spPr>
          <a:xfrm>
            <a:off x="322725" y="1112900"/>
            <a:ext cx="3075900" cy="14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400">
                <a:solidFill>
                  <a:srgbClr val="1B2630"/>
                </a:solidFill>
                <a:latin typeface="Fira Sans"/>
                <a:ea typeface="Fira Sans"/>
                <a:cs typeface="Fira Sans"/>
                <a:sym typeface="Fira Sans"/>
              </a:rPr>
              <a:t>Regul</a:t>
            </a:r>
            <a:r>
              <a:rPr b="1" lang="en" sz="3400">
                <a:solidFill>
                  <a:srgbClr val="1B2630"/>
                </a:solidFill>
                <a:latin typeface="Fira Sans"/>
                <a:ea typeface="Fira Sans"/>
                <a:cs typeface="Fira Sans"/>
                <a:sym typeface="Fira Sans"/>
              </a:rPr>
              <a:t>arization - Core Idea</a:t>
            </a:r>
            <a:endParaRPr b="1" i="0" sz="3600" u="none" cap="none" strike="noStrike">
              <a:solidFill>
                <a:srgbClr val="1B2630"/>
              </a:solidFill>
              <a:latin typeface="Fira Sans"/>
              <a:ea typeface="Fira Sans"/>
              <a:cs typeface="Fira Sans"/>
              <a:sym typeface="Fira Sans"/>
            </a:endParaRPr>
          </a:p>
        </p:txBody>
      </p:sp>
      <p:sp>
        <p:nvSpPr>
          <p:cNvPr id="85" name="Google Shape;85;g334f63cf967_0_26"/>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g334f352642b_0_10"/>
          <p:cNvSpPr/>
          <p:nvPr/>
        </p:nvSpPr>
        <p:spPr>
          <a:xfrm>
            <a:off x="3398625"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1" name="Google Shape;91;g334f352642b_0_10"/>
          <p:cNvSpPr txBox="1"/>
          <p:nvPr/>
        </p:nvSpPr>
        <p:spPr>
          <a:xfrm>
            <a:off x="3527325" y="384800"/>
            <a:ext cx="3787200" cy="2721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t/>
            </a:r>
            <a:endParaRPr b="1" i="0" sz="1300" u="none" cap="none" strike="noStrike">
              <a:solidFill>
                <a:schemeClr val="dk1"/>
              </a:solidFill>
              <a:latin typeface="Fira Sans"/>
              <a:ea typeface="Fira Sans"/>
              <a:cs typeface="Fira Sans"/>
              <a:sym typeface="Fira Sans"/>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Data Exploration &amp; Scaling</a:t>
            </a:r>
            <a:r>
              <a:rPr lang="en" sz="1100">
                <a:solidFill>
                  <a:schemeClr val="dk1"/>
                </a:solidFill>
              </a:rPr>
              <a:t> — clean, analyze distributions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Model Architecture Design</a:t>
            </a:r>
            <a:r>
              <a:rPr lang="en" sz="1100">
                <a:solidFill>
                  <a:schemeClr val="dk1"/>
                </a:solidFill>
              </a:rPr>
              <a:t> — plan normalization layers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Apply Regularization</a:t>
            </a:r>
            <a:r>
              <a:rPr lang="en" sz="1100">
                <a:solidFill>
                  <a:schemeClr val="dk1"/>
                </a:solidFill>
              </a:rPr>
              <a:t> — L1/L2, dropout, early stopping</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Training &amp; Validation Loop</a:t>
            </a:r>
            <a:r>
              <a:rPr lang="en" sz="1100">
                <a:solidFill>
                  <a:schemeClr val="dk1"/>
                </a:solidFill>
              </a:rPr>
              <a:t> — monitor loss &amp; accuracy</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Evaluation &amp; Fine-tuning</a:t>
            </a:r>
            <a:r>
              <a:rPr lang="en" sz="1100">
                <a:solidFill>
                  <a:schemeClr val="dk1"/>
                </a:solidFill>
              </a:rPr>
              <a:t> — adjust hyperparameters for stability &amp; performance</a:t>
            </a:r>
            <a:endParaRPr b="1"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1"/>
              </a:solidFill>
              <a:latin typeface="Fira Sans"/>
              <a:ea typeface="Fira Sans"/>
              <a:cs typeface="Fira Sans"/>
              <a:sym typeface="Fira Sans"/>
            </a:endParaRPr>
          </a:p>
          <a:p>
            <a:pPr indent="0" lvl="0" marL="457200" marR="0" rtl="0" algn="l">
              <a:lnSpc>
                <a:spcPct val="150000"/>
              </a:lnSpc>
              <a:spcBef>
                <a:spcPts val="1200"/>
              </a:spcBef>
              <a:spcAft>
                <a:spcPts val="0"/>
              </a:spcAft>
              <a:buClr>
                <a:srgbClr val="000000"/>
              </a:buClr>
              <a:buSzPts val="800"/>
              <a:buFont typeface="Arial"/>
              <a:buNone/>
            </a:pPr>
            <a:r>
              <a:t/>
            </a:r>
            <a:endParaRPr b="0" i="0" sz="1500" u="none" cap="none" strike="noStrike">
              <a:solidFill>
                <a:schemeClr val="dk1"/>
              </a:solidFill>
              <a:latin typeface="Fira Sans"/>
              <a:ea typeface="Fira Sans"/>
              <a:cs typeface="Fira Sans"/>
              <a:sym typeface="Fira Sans"/>
            </a:endParaRPr>
          </a:p>
        </p:txBody>
      </p:sp>
      <p:sp>
        <p:nvSpPr>
          <p:cNvPr id="92" name="Google Shape;92;g334f352642b_0_10"/>
          <p:cNvSpPr txBox="1"/>
          <p:nvPr>
            <p:ph idx="4294967295" type="ctrTitle"/>
          </p:nvPr>
        </p:nvSpPr>
        <p:spPr>
          <a:xfrm>
            <a:off x="238325" y="1197475"/>
            <a:ext cx="3075900" cy="140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600">
                <a:solidFill>
                  <a:srgbClr val="1B2630"/>
                </a:solidFill>
                <a:latin typeface="Fira Sans"/>
                <a:ea typeface="Fira Sans"/>
                <a:cs typeface="Fira Sans"/>
                <a:sym typeface="Fira Sans"/>
              </a:rPr>
              <a:t>Putting it together - workflow</a:t>
            </a:r>
            <a:endParaRPr b="1" i="0" sz="3600" u="none" cap="none" strike="noStrike">
              <a:solidFill>
                <a:srgbClr val="1B2630"/>
              </a:solidFill>
              <a:latin typeface="Fira Sans"/>
              <a:ea typeface="Fira Sans"/>
              <a:cs typeface="Fira Sans"/>
              <a:sym typeface="Fira Sans"/>
            </a:endParaRPr>
          </a:p>
        </p:txBody>
      </p:sp>
      <p:sp>
        <p:nvSpPr>
          <p:cNvPr id="93" name="Google Shape;93;g334f352642b_0_10"/>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g37d50292c37_0_6"/>
          <p:cNvSpPr/>
          <p:nvPr/>
        </p:nvSpPr>
        <p:spPr>
          <a:xfrm>
            <a:off x="3398625"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99" name="Google Shape;99;g37d50292c37_0_6"/>
          <p:cNvSpPr txBox="1"/>
          <p:nvPr/>
        </p:nvSpPr>
        <p:spPr>
          <a:xfrm>
            <a:off x="3398625" y="384800"/>
            <a:ext cx="3380700" cy="253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t/>
            </a:r>
            <a:endParaRPr i="0" sz="1300" u="none" cap="none" strike="noStrike">
              <a:solidFill>
                <a:schemeClr val="dk1"/>
              </a:solidFill>
              <a:latin typeface="Fira Sans"/>
              <a:ea typeface="Fira Sans"/>
              <a:cs typeface="Fira Sans"/>
              <a:sym typeface="Fira Sans"/>
            </a:endParaRPr>
          </a:p>
          <a:p>
            <a:pPr indent="-298450" lvl="0" marL="457200" marR="0" rtl="0" algn="l">
              <a:lnSpc>
                <a:spcPct val="115000"/>
              </a:lnSpc>
              <a:spcBef>
                <a:spcPts val="1200"/>
              </a:spcBef>
              <a:spcAft>
                <a:spcPts val="0"/>
              </a:spcAft>
              <a:buClr>
                <a:schemeClr val="dk1"/>
              </a:buClr>
              <a:buSzPts val="1100"/>
              <a:buChar char="●"/>
            </a:pPr>
            <a:r>
              <a:rPr lang="en" sz="1100">
                <a:solidFill>
                  <a:schemeClr val="dk1"/>
                </a:solidFill>
              </a:rPr>
              <a:t>Healthcare: MRI models more accurate with batch norm and dropout</a:t>
            </a:r>
            <a:endParaRPr sz="1100">
              <a:solidFill>
                <a:schemeClr val="dk1"/>
              </a:solidFill>
            </a:endParaRPr>
          </a:p>
          <a:p>
            <a:pPr indent="-298450" lvl="0" marL="457200" marR="0" rtl="0" algn="l">
              <a:lnSpc>
                <a:spcPct val="115000"/>
              </a:lnSpc>
              <a:spcBef>
                <a:spcPts val="1200"/>
              </a:spcBef>
              <a:spcAft>
                <a:spcPts val="0"/>
              </a:spcAft>
              <a:buClr>
                <a:schemeClr val="dk1"/>
              </a:buClr>
              <a:buSzPts val="1100"/>
              <a:buChar char="●"/>
            </a:pPr>
            <a:r>
              <a:rPr lang="en" sz="1100">
                <a:solidFill>
                  <a:schemeClr val="dk1"/>
                </a:solidFill>
              </a:rPr>
              <a:t>Finance: </a:t>
            </a:r>
            <a:r>
              <a:rPr lang="en" sz="1100">
                <a:solidFill>
                  <a:schemeClr val="dk1"/>
                </a:solidFill>
              </a:rPr>
              <a:t>credit</a:t>
            </a:r>
            <a:r>
              <a:rPr lang="en" sz="1100">
                <a:solidFill>
                  <a:schemeClr val="dk1"/>
                </a:solidFill>
              </a:rPr>
              <a:t> risk models stable after scaling income, loans, scores</a:t>
            </a:r>
            <a:endParaRPr sz="1100">
              <a:solidFill>
                <a:schemeClr val="dk1"/>
              </a:solidFill>
            </a:endParaRPr>
          </a:p>
          <a:p>
            <a:pPr indent="-298450" lvl="0" marL="457200" marR="0" rtl="0" algn="l">
              <a:lnSpc>
                <a:spcPct val="115000"/>
              </a:lnSpc>
              <a:spcBef>
                <a:spcPts val="1200"/>
              </a:spcBef>
              <a:spcAft>
                <a:spcPts val="0"/>
              </a:spcAft>
              <a:buClr>
                <a:schemeClr val="dk1"/>
              </a:buClr>
              <a:buSzPts val="1100"/>
              <a:buChar char="●"/>
            </a:pPr>
            <a:r>
              <a:rPr lang="en" sz="1100">
                <a:solidFill>
                  <a:schemeClr val="dk1"/>
                </a:solidFill>
              </a:rPr>
              <a:t>E-commerce: better recommendations across new and loyal customers via normalization + dropout</a:t>
            </a:r>
            <a:endParaRPr sz="1100">
              <a:solidFill>
                <a:schemeClr val="dk1"/>
              </a:solidFill>
            </a:endParaRPr>
          </a:p>
          <a:p>
            <a:pPr indent="0" lvl="0" marL="457200" marR="0" rtl="0" algn="l">
              <a:lnSpc>
                <a:spcPct val="115000"/>
              </a:lnSpc>
              <a:spcBef>
                <a:spcPts val="1200"/>
              </a:spcBef>
              <a:spcAft>
                <a:spcPts val="0"/>
              </a:spcAft>
              <a:buClr>
                <a:srgbClr val="000000"/>
              </a:buClr>
              <a:buSzPts val="1100"/>
              <a:buFont typeface="Arial"/>
              <a:buNone/>
            </a:pPr>
            <a:r>
              <a:t/>
            </a:r>
            <a:endParaRPr i="0" sz="1100" u="none" cap="none" strike="noStrike">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i="0" sz="1100" u="none" cap="none" strike="noStrike">
              <a:solidFill>
                <a:schemeClr val="dk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800"/>
              <a:buFont typeface="Arial"/>
              <a:buNone/>
            </a:pPr>
            <a:r>
              <a:t/>
            </a:r>
            <a:endParaRPr i="0" sz="1800" u="none" cap="none" strike="noStrike">
              <a:solidFill>
                <a:schemeClr val="dk1"/>
              </a:solidFill>
              <a:latin typeface="Fira Sans"/>
              <a:ea typeface="Fira Sans"/>
              <a:cs typeface="Fira Sans"/>
              <a:sym typeface="Fira Sans"/>
            </a:endParaRPr>
          </a:p>
          <a:p>
            <a:pPr indent="0" lvl="0" marL="457200" marR="0" rtl="0" algn="l">
              <a:lnSpc>
                <a:spcPct val="150000"/>
              </a:lnSpc>
              <a:spcBef>
                <a:spcPts val="1200"/>
              </a:spcBef>
              <a:spcAft>
                <a:spcPts val="0"/>
              </a:spcAft>
              <a:buClr>
                <a:srgbClr val="000000"/>
              </a:buClr>
              <a:buSzPts val="800"/>
              <a:buFont typeface="Arial"/>
              <a:buNone/>
            </a:pPr>
            <a:r>
              <a:t/>
            </a:r>
            <a:endParaRPr i="0" sz="1500" u="none" cap="none" strike="noStrike">
              <a:solidFill>
                <a:schemeClr val="dk1"/>
              </a:solidFill>
              <a:latin typeface="Fira Sans"/>
              <a:ea typeface="Fira Sans"/>
              <a:cs typeface="Fira Sans"/>
              <a:sym typeface="Fira Sans"/>
            </a:endParaRPr>
          </a:p>
        </p:txBody>
      </p:sp>
      <p:sp>
        <p:nvSpPr>
          <p:cNvPr id="100" name="Google Shape;100;g37d50292c37_0_6"/>
          <p:cNvSpPr txBox="1"/>
          <p:nvPr>
            <p:ph idx="4294967295" type="ctrTitle"/>
          </p:nvPr>
        </p:nvSpPr>
        <p:spPr>
          <a:xfrm>
            <a:off x="238325" y="1197475"/>
            <a:ext cx="3075900" cy="140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600">
                <a:solidFill>
                  <a:srgbClr val="1B2630"/>
                </a:solidFill>
                <a:latin typeface="Fira Sans"/>
                <a:ea typeface="Fira Sans"/>
                <a:cs typeface="Fira Sans"/>
                <a:sym typeface="Fira Sans"/>
              </a:rPr>
              <a:t>Industry Impact</a:t>
            </a:r>
            <a:endParaRPr b="1" i="0" sz="3600" u="none" cap="none" strike="noStrike">
              <a:solidFill>
                <a:srgbClr val="1B2630"/>
              </a:solidFill>
              <a:latin typeface="Fira Sans"/>
              <a:ea typeface="Fira Sans"/>
              <a:cs typeface="Fira Sans"/>
              <a:sym typeface="Fira Sans"/>
            </a:endParaRPr>
          </a:p>
        </p:txBody>
      </p:sp>
      <p:sp>
        <p:nvSpPr>
          <p:cNvPr id="101" name="Google Shape;101;g37d50292c37_0_6"/>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sp>
        <p:nvSpPr>
          <p:cNvPr id="106" name="Google Shape;106;g37d50292c37_0_14"/>
          <p:cNvSpPr/>
          <p:nvPr/>
        </p:nvSpPr>
        <p:spPr>
          <a:xfrm>
            <a:off x="3398625"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07" name="Google Shape;107;g37d50292c37_0_14"/>
          <p:cNvSpPr txBox="1"/>
          <p:nvPr/>
        </p:nvSpPr>
        <p:spPr>
          <a:xfrm>
            <a:off x="3451125" y="517625"/>
            <a:ext cx="3120600" cy="253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t/>
            </a:r>
            <a:endParaRPr i="0" sz="1300" u="none" cap="none" strike="noStrike">
              <a:solidFill>
                <a:schemeClr val="dk1"/>
              </a:solidFill>
              <a:latin typeface="Fira Sans"/>
              <a:ea typeface="Fira Sans"/>
              <a:cs typeface="Fira Sans"/>
              <a:sym typeface="Fira Sans"/>
            </a:endParaRPr>
          </a:p>
          <a:p>
            <a:pPr indent="-298450" lvl="0" marL="457200" marR="0" rtl="0" algn="l">
              <a:lnSpc>
                <a:spcPct val="115000"/>
              </a:lnSpc>
              <a:spcBef>
                <a:spcPts val="0"/>
              </a:spcBef>
              <a:spcAft>
                <a:spcPts val="0"/>
              </a:spcAft>
              <a:buClr>
                <a:schemeClr val="dk1"/>
              </a:buClr>
              <a:buSzPts val="1100"/>
              <a:buChar char="●"/>
            </a:pPr>
            <a:r>
              <a:rPr lang="en" sz="1100">
                <a:solidFill>
                  <a:schemeClr val="dk1"/>
                </a:solidFill>
              </a:rPr>
              <a:t>Always scale training data and apply the same transform to validation/test sets</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 sz="1100">
                <a:solidFill>
                  <a:schemeClr val="dk1"/>
                </a:solidFill>
              </a:rPr>
              <a:t>Use batch normalization in deeper architectures to speed up training</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 sz="1100">
                <a:solidFill>
                  <a:schemeClr val="dk1"/>
                </a:solidFill>
              </a:rPr>
              <a:t>Tune dropout and regularization </a:t>
            </a:r>
            <a:r>
              <a:rPr lang="en" sz="1100">
                <a:solidFill>
                  <a:schemeClr val="dk1"/>
                </a:solidFill>
              </a:rPr>
              <a:t>strength– too much can underfit</a:t>
            </a:r>
            <a:endParaRPr sz="1100">
              <a:solidFill>
                <a:schemeClr val="dk1"/>
              </a:solidFill>
            </a:endParaRPr>
          </a:p>
          <a:p>
            <a:pPr indent="-298450" lvl="0" marL="457200" marR="0" rtl="0" algn="l">
              <a:lnSpc>
                <a:spcPct val="115000"/>
              </a:lnSpc>
              <a:spcBef>
                <a:spcPts val="0"/>
              </a:spcBef>
              <a:spcAft>
                <a:spcPts val="0"/>
              </a:spcAft>
              <a:buClr>
                <a:schemeClr val="dk1"/>
              </a:buClr>
              <a:buSzPts val="1100"/>
              <a:buChar char="●"/>
            </a:pPr>
            <a:r>
              <a:rPr lang="en" sz="1100">
                <a:solidFill>
                  <a:schemeClr val="dk1"/>
                </a:solidFill>
              </a:rPr>
              <a:t>Watch validation curves for early stopping clues</a:t>
            </a:r>
            <a:endParaRPr sz="1100">
              <a:solidFill>
                <a:schemeClr val="dk1"/>
              </a:solidFill>
            </a:endParaRPr>
          </a:p>
          <a:p>
            <a:pPr indent="0" lvl="0" marL="0" marR="0" rtl="0" algn="l">
              <a:lnSpc>
                <a:spcPct val="115000"/>
              </a:lnSpc>
              <a:spcBef>
                <a:spcPts val="1200"/>
              </a:spcBef>
              <a:spcAft>
                <a:spcPts val="0"/>
              </a:spcAft>
              <a:buClr>
                <a:srgbClr val="000000"/>
              </a:buClr>
              <a:buSzPts val="1100"/>
              <a:buFont typeface="Arial"/>
              <a:buNone/>
            </a:pPr>
            <a:r>
              <a:t/>
            </a:r>
            <a:endParaRPr i="0" sz="1100" u="none" cap="none" strike="noStrike">
              <a:solidFill>
                <a:schemeClr val="dk1"/>
              </a:solidFill>
            </a:endParaRPr>
          </a:p>
          <a:p>
            <a:pPr indent="0" lvl="0" marL="0" marR="0" rtl="0" algn="l">
              <a:lnSpc>
                <a:spcPct val="115000"/>
              </a:lnSpc>
              <a:spcBef>
                <a:spcPts val="1200"/>
              </a:spcBef>
              <a:spcAft>
                <a:spcPts val="0"/>
              </a:spcAft>
              <a:buClr>
                <a:srgbClr val="000000"/>
              </a:buClr>
              <a:buSzPts val="1800"/>
              <a:buFont typeface="Arial"/>
              <a:buNone/>
            </a:pPr>
            <a:r>
              <a:t/>
            </a:r>
            <a:endParaRPr i="0" sz="1800" u="none" cap="none" strike="noStrike">
              <a:solidFill>
                <a:schemeClr val="dk1"/>
              </a:solidFill>
              <a:latin typeface="Fira Sans"/>
              <a:ea typeface="Fira Sans"/>
              <a:cs typeface="Fira Sans"/>
              <a:sym typeface="Fira Sans"/>
            </a:endParaRPr>
          </a:p>
          <a:p>
            <a:pPr indent="0" lvl="0" marL="457200" marR="0" rtl="0" algn="l">
              <a:lnSpc>
                <a:spcPct val="150000"/>
              </a:lnSpc>
              <a:spcBef>
                <a:spcPts val="1200"/>
              </a:spcBef>
              <a:spcAft>
                <a:spcPts val="0"/>
              </a:spcAft>
              <a:buClr>
                <a:srgbClr val="000000"/>
              </a:buClr>
              <a:buSzPts val="800"/>
              <a:buFont typeface="Arial"/>
              <a:buNone/>
            </a:pPr>
            <a:r>
              <a:t/>
            </a:r>
            <a:endParaRPr i="0" sz="1500" u="none" cap="none" strike="noStrike">
              <a:solidFill>
                <a:schemeClr val="dk1"/>
              </a:solidFill>
              <a:latin typeface="Fira Sans"/>
              <a:ea typeface="Fira Sans"/>
              <a:cs typeface="Fira Sans"/>
              <a:sym typeface="Fira Sans"/>
            </a:endParaRPr>
          </a:p>
        </p:txBody>
      </p:sp>
      <p:sp>
        <p:nvSpPr>
          <p:cNvPr id="108" name="Google Shape;108;g37d50292c37_0_14"/>
          <p:cNvSpPr txBox="1"/>
          <p:nvPr>
            <p:ph idx="4294967295" type="ctrTitle"/>
          </p:nvPr>
        </p:nvSpPr>
        <p:spPr>
          <a:xfrm>
            <a:off x="160575" y="1203450"/>
            <a:ext cx="3075900" cy="140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600">
                <a:solidFill>
                  <a:srgbClr val="1B2630"/>
                </a:solidFill>
                <a:latin typeface="Fira Sans"/>
                <a:ea typeface="Fira Sans"/>
                <a:cs typeface="Fira Sans"/>
                <a:sym typeface="Fira Sans"/>
              </a:rPr>
              <a:t>Practical Tips</a:t>
            </a:r>
            <a:endParaRPr b="1" i="0" sz="3600" u="none" cap="none" strike="noStrike">
              <a:solidFill>
                <a:srgbClr val="1B2630"/>
              </a:solidFill>
              <a:latin typeface="Fira Sans"/>
              <a:ea typeface="Fira Sans"/>
              <a:cs typeface="Fira Sans"/>
              <a:sym typeface="Fira Sans"/>
            </a:endParaRPr>
          </a:p>
        </p:txBody>
      </p:sp>
      <p:sp>
        <p:nvSpPr>
          <p:cNvPr id="109" name="Google Shape;109;g37d50292c37_0_14"/>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13" name="Shape 113"/>
        <p:cNvGrpSpPr/>
        <p:nvPr/>
      </p:nvGrpSpPr>
      <p:grpSpPr>
        <a:xfrm>
          <a:off x="0" y="0"/>
          <a:ext cx="0" cy="0"/>
          <a:chOff x="0" y="0"/>
          <a:chExt cx="0" cy="0"/>
        </a:xfrm>
      </p:grpSpPr>
      <p:sp>
        <p:nvSpPr>
          <p:cNvPr id="114" name="Google Shape;114;g332547984f4_0_4"/>
          <p:cNvSpPr txBox="1"/>
          <p:nvPr/>
        </p:nvSpPr>
        <p:spPr>
          <a:xfrm>
            <a:off x="4855864" y="1049536"/>
            <a:ext cx="2467200" cy="35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434343"/>
              </a:solidFill>
              <a:latin typeface="Roboto"/>
              <a:ea typeface="Roboto"/>
              <a:cs typeface="Roboto"/>
              <a:sym typeface="Roboto"/>
            </a:endParaRPr>
          </a:p>
        </p:txBody>
      </p:sp>
      <p:sp>
        <p:nvSpPr>
          <p:cNvPr id="115" name="Google Shape;115;g332547984f4_0_4"/>
          <p:cNvSpPr txBox="1"/>
          <p:nvPr>
            <p:ph type="title"/>
          </p:nvPr>
        </p:nvSpPr>
        <p:spPr>
          <a:xfrm>
            <a:off x="308707" y="474345"/>
            <a:ext cx="6756900" cy="52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101820"/>
                </a:solidFill>
                <a:latin typeface="Fira Sans ExtraBold"/>
                <a:ea typeface="Fira Sans ExtraBold"/>
                <a:cs typeface="Fira Sans ExtraBold"/>
                <a:sym typeface="Fira Sans ExtraBold"/>
              </a:rPr>
              <a:t>Sample Model Results</a:t>
            </a:r>
            <a:endParaRPr>
              <a:solidFill>
                <a:srgbClr val="101820"/>
              </a:solidFill>
              <a:latin typeface="Fira Sans ExtraBold"/>
              <a:ea typeface="Fira Sans ExtraBold"/>
              <a:cs typeface="Fira Sans ExtraBold"/>
              <a:sym typeface="Fira Sans ExtraBold"/>
            </a:endParaRPr>
          </a:p>
        </p:txBody>
      </p:sp>
      <p:pic>
        <p:nvPicPr>
          <p:cNvPr id="116" name="Google Shape;116;g332547984f4_0_4" title="Screenshot 2025-10-07 at 12.04.14.png"/>
          <p:cNvPicPr preferRelativeResize="0"/>
          <p:nvPr/>
        </p:nvPicPr>
        <p:blipFill>
          <a:blip r:embed="rId3">
            <a:alphaModFix/>
          </a:blip>
          <a:stretch>
            <a:fillRect/>
          </a:stretch>
        </p:blipFill>
        <p:spPr>
          <a:xfrm>
            <a:off x="59550" y="1821650"/>
            <a:ext cx="7525574" cy="2395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20" name="Shape 120"/>
        <p:cNvGrpSpPr/>
        <p:nvPr/>
      </p:nvGrpSpPr>
      <p:grpSpPr>
        <a:xfrm>
          <a:off x="0" y="0"/>
          <a:ext cx="0" cy="0"/>
          <a:chOff x="0" y="0"/>
          <a:chExt cx="0" cy="0"/>
        </a:xfrm>
      </p:grpSpPr>
      <p:sp>
        <p:nvSpPr>
          <p:cNvPr id="121" name="Google Shape;121;g38f285e5b38_0_0"/>
          <p:cNvSpPr txBox="1"/>
          <p:nvPr/>
        </p:nvSpPr>
        <p:spPr>
          <a:xfrm>
            <a:off x="4855864" y="1049536"/>
            <a:ext cx="2467200" cy="35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434343"/>
              </a:solidFill>
              <a:latin typeface="Roboto"/>
              <a:ea typeface="Roboto"/>
              <a:cs typeface="Roboto"/>
              <a:sym typeface="Roboto"/>
            </a:endParaRPr>
          </a:p>
        </p:txBody>
      </p:sp>
      <p:sp>
        <p:nvSpPr>
          <p:cNvPr id="122" name="Google Shape;122;g38f285e5b38_0_0"/>
          <p:cNvSpPr txBox="1"/>
          <p:nvPr>
            <p:ph type="title"/>
          </p:nvPr>
        </p:nvSpPr>
        <p:spPr>
          <a:xfrm>
            <a:off x="308707" y="474345"/>
            <a:ext cx="6756900" cy="52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101820"/>
                </a:solidFill>
                <a:latin typeface="Fira Sans ExtraBold"/>
                <a:ea typeface="Fira Sans ExtraBold"/>
                <a:cs typeface="Fira Sans ExtraBold"/>
                <a:sym typeface="Fira Sans ExtraBold"/>
              </a:rPr>
              <a:t>Common normalization techniques</a:t>
            </a:r>
            <a:endParaRPr>
              <a:solidFill>
                <a:srgbClr val="101820"/>
              </a:solidFill>
              <a:latin typeface="Fira Sans ExtraBold"/>
              <a:ea typeface="Fira Sans ExtraBold"/>
              <a:cs typeface="Fira Sans ExtraBold"/>
              <a:sym typeface="Fira Sans ExtraBold"/>
            </a:endParaRPr>
          </a:p>
        </p:txBody>
      </p:sp>
      <p:pic>
        <p:nvPicPr>
          <p:cNvPr id="123" name="Google Shape;123;g38f285e5b38_0_0" title="Screenshot 2025-10-07 at 13.57.23.png"/>
          <p:cNvPicPr preferRelativeResize="0"/>
          <p:nvPr/>
        </p:nvPicPr>
        <p:blipFill>
          <a:blip r:embed="rId3">
            <a:alphaModFix/>
          </a:blip>
          <a:stretch>
            <a:fillRect/>
          </a:stretch>
        </p:blipFill>
        <p:spPr>
          <a:xfrm>
            <a:off x="277063" y="1159125"/>
            <a:ext cx="6820173" cy="2369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4F6"/>
        </a:solidFill>
      </p:bgPr>
    </p:bg>
    <p:spTree>
      <p:nvGrpSpPr>
        <p:cNvPr id="127" name="Shape 127"/>
        <p:cNvGrpSpPr/>
        <p:nvPr/>
      </p:nvGrpSpPr>
      <p:grpSpPr>
        <a:xfrm>
          <a:off x="0" y="0"/>
          <a:ext cx="0" cy="0"/>
          <a:chOff x="0" y="0"/>
          <a:chExt cx="0" cy="0"/>
        </a:xfrm>
      </p:grpSpPr>
      <p:sp>
        <p:nvSpPr>
          <p:cNvPr id="128" name="Google Shape;128;g38f285e5b38_0_7"/>
          <p:cNvSpPr txBox="1"/>
          <p:nvPr/>
        </p:nvSpPr>
        <p:spPr>
          <a:xfrm>
            <a:off x="4855864" y="1049536"/>
            <a:ext cx="2467200" cy="35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434343"/>
              </a:solidFill>
              <a:latin typeface="Roboto"/>
              <a:ea typeface="Roboto"/>
              <a:cs typeface="Roboto"/>
              <a:sym typeface="Roboto"/>
            </a:endParaRPr>
          </a:p>
        </p:txBody>
      </p:sp>
      <p:sp>
        <p:nvSpPr>
          <p:cNvPr id="129" name="Google Shape;129;g38f285e5b38_0_7"/>
          <p:cNvSpPr txBox="1"/>
          <p:nvPr>
            <p:ph type="title"/>
          </p:nvPr>
        </p:nvSpPr>
        <p:spPr>
          <a:xfrm>
            <a:off x="308707" y="474345"/>
            <a:ext cx="6756900" cy="522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101820"/>
                </a:solidFill>
                <a:latin typeface="Fira Sans ExtraBold"/>
                <a:ea typeface="Fira Sans ExtraBold"/>
                <a:cs typeface="Fira Sans ExtraBold"/>
                <a:sym typeface="Fira Sans ExtraBold"/>
              </a:rPr>
              <a:t>Common regularization techniques</a:t>
            </a:r>
            <a:endParaRPr>
              <a:solidFill>
                <a:srgbClr val="101820"/>
              </a:solidFill>
              <a:latin typeface="Fira Sans ExtraBold"/>
              <a:ea typeface="Fira Sans ExtraBold"/>
              <a:cs typeface="Fira Sans ExtraBold"/>
              <a:sym typeface="Fira Sans ExtraBold"/>
            </a:endParaRPr>
          </a:p>
        </p:txBody>
      </p:sp>
      <p:pic>
        <p:nvPicPr>
          <p:cNvPr id="130" name="Google Shape;130;g38f285e5b38_0_7" title="Screenshot 2025-10-07 at 13.58.33.png"/>
          <p:cNvPicPr preferRelativeResize="0"/>
          <p:nvPr/>
        </p:nvPicPr>
        <p:blipFill>
          <a:blip r:embed="rId3">
            <a:alphaModFix/>
          </a:blip>
          <a:stretch>
            <a:fillRect/>
          </a:stretch>
        </p:blipFill>
        <p:spPr>
          <a:xfrm>
            <a:off x="405300" y="1511602"/>
            <a:ext cx="6975002" cy="1869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sp>
        <p:nvSpPr>
          <p:cNvPr id="135" name="Google Shape;135;g37d50292c37_0_23"/>
          <p:cNvSpPr/>
          <p:nvPr/>
        </p:nvSpPr>
        <p:spPr>
          <a:xfrm>
            <a:off x="3398625" y="0"/>
            <a:ext cx="5745300" cy="5143500"/>
          </a:xfrm>
          <a:prstGeom prst="rect">
            <a:avLst/>
          </a:prstGeom>
          <a:solidFill>
            <a:srgbClr val="01AD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6" name="Google Shape;136;g37d50292c37_0_23"/>
          <p:cNvSpPr txBox="1"/>
          <p:nvPr/>
        </p:nvSpPr>
        <p:spPr>
          <a:xfrm>
            <a:off x="3517800" y="927200"/>
            <a:ext cx="3120600" cy="25323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0"/>
              </a:spcBef>
              <a:spcAft>
                <a:spcPts val="0"/>
              </a:spcAft>
              <a:buClr>
                <a:schemeClr val="dk1"/>
              </a:buClr>
              <a:buSzPts val="1100"/>
              <a:buChar char="●"/>
            </a:pPr>
            <a:r>
              <a:rPr lang="en" sz="1300">
                <a:solidFill>
                  <a:schemeClr val="dk1"/>
                </a:solidFill>
                <a:latin typeface="Fira Sans"/>
                <a:ea typeface="Fira Sans"/>
                <a:cs typeface="Fira Sans"/>
                <a:sym typeface="Fira Sans"/>
              </a:rPr>
              <a:t>Normalization stabilizes training</a:t>
            </a:r>
            <a:endParaRPr sz="1300">
              <a:solidFill>
                <a:schemeClr val="dk1"/>
              </a:solidFill>
              <a:latin typeface="Fira Sans"/>
              <a:ea typeface="Fira Sans"/>
              <a:cs typeface="Fira Sans"/>
              <a:sym typeface="Fira Sans"/>
            </a:endParaRPr>
          </a:p>
          <a:p>
            <a:pPr indent="-311150" lvl="0" marL="457200" marR="0" rtl="0" algn="l">
              <a:lnSpc>
                <a:spcPct val="115000"/>
              </a:lnSpc>
              <a:spcBef>
                <a:spcPts val="0"/>
              </a:spcBef>
              <a:spcAft>
                <a:spcPts val="0"/>
              </a:spcAft>
              <a:buClr>
                <a:schemeClr val="dk1"/>
              </a:buClr>
              <a:buSzPts val="1300"/>
              <a:buFont typeface="Fira Sans"/>
              <a:buChar char="●"/>
            </a:pPr>
            <a:r>
              <a:rPr lang="en" sz="1300">
                <a:solidFill>
                  <a:schemeClr val="dk1"/>
                </a:solidFill>
                <a:latin typeface="Fira Sans"/>
                <a:ea typeface="Fira Sans"/>
                <a:cs typeface="Fira Sans"/>
                <a:sym typeface="Fira Sans"/>
              </a:rPr>
              <a:t>Regularization builds generalizable models</a:t>
            </a:r>
            <a:endParaRPr sz="1300">
              <a:solidFill>
                <a:schemeClr val="dk1"/>
              </a:solidFill>
              <a:latin typeface="Fira Sans"/>
              <a:ea typeface="Fira Sans"/>
              <a:cs typeface="Fira Sans"/>
              <a:sym typeface="Fira Sans"/>
            </a:endParaRPr>
          </a:p>
          <a:p>
            <a:pPr indent="-311150" lvl="0" marL="457200" marR="0" rtl="0" algn="l">
              <a:lnSpc>
                <a:spcPct val="115000"/>
              </a:lnSpc>
              <a:spcBef>
                <a:spcPts val="0"/>
              </a:spcBef>
              <a:spcAft>
                <a:spcPts val="0"/>
              </a:spcAft>
              <a:buClr>
                <a:schemeClr val="dk1"/>
              </a:buClr>
              <a:buSzPts val="1300"/>
              <a:buFont typeface="Fira Sans"/>
              <a:buChar char="●"/>
            </a:pPr>
            <a:r>
              <a:rPr lang="en" sz="1300">
                <a:solidFill>
                  <a:schemeClr val="dk1"/>
                </a:solidFill>
                <a:latin typeface="Fira Sans"/>
                <a:ea typeface="Fira Sans"/>
                <a:cs typeface="Fira Sans"/>
                <a:sym typeface="Fira Sans"/>
              </a:rPr>
              <a:t>Combined, they enable scalable, production-ready deep learning</a:t>
            </a:r>
            <a:endParaRPr sz="1300">
              <a:solidFill>
                <a:schemeClr val="dk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100"/>
              <a:buFont typeface="Arial"/>
              <a:buNone/>
            </a:pPr>
            <a:r>
              <a:t/>
            </a:r>
            <a:endParaRPr i="0" sz="1100" u="none" cap="none" strike="noStrike">
              <a:solidFill>
                <a:schemeClr val="dk1"/>
              </a:solidFill>
            </a:endParaRPr>
          </a:p>
          <a:p>
            <a:pPr indent="0" lvl="0" marL="0" marR="0" rtl="0" algn="l">
              <a:lnSpc>
                <a:spcPct val="115000"/>
              </a:lnSpc>
              <a:spcBef>
                <a:spcPts val="1200"/>
              </a:spcBef>
              <a:spcAft>
                <a:spcPts val="0"/>
              </a:spcAft>
              <a:buClr>
                <a:srgbClr val="000000"/>
              </a:buClr>
              <a:buSzPts val="1800"/>
              <a:buFont typeface="Arial"/>
              <a:buNone/>
            </a:pPr>
            <a:r>
              <a:t/>
            </a:r>
            <a:endParaRPr i="0" sz="1800" u="none" cap="none" strike="noStrike">
              <a:solidFill>
                <a:schemeClr val="dk1"/>
              </a:solidFill>
              <a:latin typeface="Fira Sans"/>
              <a:ea typeface="Fira Sans"/>
              <a:cs typeface="Fira Sans"/>
              <a:sym typeface="Fira Sans"/>
            </a:endParaRPr>
          </a:p>
          <a:p>
            <a:pPr indent="0" lvl="0" marL="457200" marR="0" rtl="0" algn="l">
              <a:lnSpc>
                <a:spcPct val="150000"/>
              </a:lnSpc>
              <a:spcBef>
                <a:spcPts val="1200"/>
              </a:spcBef>
              <a:spcAft>
                <a:spcPts val="0"/>
              </a:spcAft>
              <a:buClr>
                <a:srgbClr val="000000"/>
              </a:buClr>
              <a:buSzPts val="800"/>
              <a:buFont typeface="Arial"/>
              <a:buNone/>
            </a:pPr>
            <a:r>
              <a:t/>
            </a:r>
            <a:endParaRPr i="0" sz="1500" u="none" cap="none" strike="noStrike">
              <a:solidFill>
                <a:schemeClr val="dk1"/>
              </a:solidFill>
              <a:latin typeface="Fira Sans"/>
              <a:ea typeface="Fira Sans"/>
              <a:cs typeface="Fira Sans"/>
              <a:sym typeface="Fira Sans"/>
            </a:endParaRPr>
          </a:p>
        </p:txBody>
      </p:sp>
      <p:sp>
        <p:nvSpPr>
          <p:cNvPr id="137" name="Google Shape;137;g37d50292c37_0_23"/>
          <p:cNvSpPr txBox="1"/>
          <p:nvPr>
            <p:ph idx="4294967295" type="ctrTitle"/>
          </p:nvPr>
        </p:nvSpPr>
        <p:spPr>
          <a:xfrm>
            <a:off x="238325" y="1197475"/>
            <a:ext cx="3160200" cy="140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3600">
                <a:solidFill>
                  <a:srgbClr val="1B2630"/>
                </a:solidFill>
                <a:latin typeface="Fira Sans"/>
                <a:ea typeface="Fira Sans"/>
                <a:cs typeface="Fira Sans"/>
                <a:sym typeface="Fira Sans"/>
              </a:rPr>
              <a:t>Key Takeaways</a:t>
            </a:r>
            <a:endParaRPr b="1" i="0" sz="3600" u="none" cap="none" strike="noStrike">
              <a:solidFill>
                <a:srgbClr val="1B2630"/>
              </a:solidFill>
              <a:latin typeface="Fira Sans"/>
              <a:ea typeface="Fira Sans"/>
              <a:cs typeface="Fira Sans"/>
              <a:sym typeface="Fira Sans"/>
            </a:endParaRPr>
          </a:p>
        </p:txBody>
      </p:sp>
      <p:sp>
        <p:nvSpPr>
          <p:cNvPr id="138" name="Google Shape;138;g37d50292c37_0_23"/>
          <p:cNvSpPr txBox="1"/>
          <p:nvPr/>
        </p:nvSpPr>
        <p:spPr>
          <a:xfrm>
            <a:off x="106325" y="2516900"/>
            <a:ext cx="3000000" cy="400200"/>
          </a:xfrm>
          <a:prstGeom prst="rect">
            <a:avLst/>
          </a:prstGeom>
          <a:noFill/>
          <a:ln>
            <a:noFill/>
          </a:ln>
        </p:spPr>
        <p:txBody>
          <a:bodyPr anchorCtr="0" anchor="t" bIns="91425" lIns="91425" spcFirstLastPara="1" rIns="91425" wrap="square" tIns="91425">
            <a:spAutoFit/>
          </a:bodyPr>
          <a:lstStyle/>
          <a:p>
            <a:pPr indent="0" lvl="0" marL="45720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