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Fira Sans ExtraBold"/>
      <p:bold r:id="rId10"/>
      <p:boldItalic r:id="rId11"/>
    </p:embeddedFont>
    <p:embeddedFont>
      <p:font typeface="Fira Sans"/>
      <p:regular r:id="rId12"/>
      <p:bold r:id="rId13"/>
      <p:italic r:id="rId14"/>
      <p:boldItalic r:id="rId15"/>
    </p:embeddedFont>
    <p:embeddedFont>
      <p:font typeface="Open Sans Medium"/>
      <p:regular r:id="rId16"/>
      <p:bold r:id="rId17"/>
      <p:italic r:id="rId18"/>
      <p:boldItalic r:id="rId19"/>
    </p:embeddedFont>
    <p:embeddedFont>
      <p:font typeface="DM Serif Display"/>
      <p:regular r:id="rId20"/>
      <p:italic r:id="rId21"/>
    </p:embeddedFont>
    <p:embeddedFont>
      <p:font typeface="Karla"/>
      <p:regular r:id="rId22"/>
      <p:bold r:id="rId23"/>
      <p:italic r:id="rId24"/>
      <p:boldItalic r:id="rId25"/>
    </p:embeddedFont>
    <p:embeddedFont>
      <p:font typeface="Open Sans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657">
          <p15:clr>
            <a:srgbClr val="9AA0A6"/>
          </p15:clr>
        </p15:guide>
        <p15:guide id="4" pos="4649">
          <p15:clr>
            <a:srgbClr val="9AA0A6"/>
          </p15:clr>
        </p15:guide>
        <p15:guide id="5" pos="3497">
          <p15:clr>
            <a:srgbClr val="9AA0A6"/>
          </p15:clr>
        </p15:guide>
        <p15:guide id="6" pos="2350">
          <p15:clr>
            <a:srgbClr val="9AA0A6"/>
          </p15:clr>
        </p15:guide>
        <p15:guide id="7" pos="2016">
          <p15:clr>
            <a:srgbClr val="9AA0A6"/>
          </p15:clr>
        </p15:guide>
      </p15:sldGuideLst>
    </p:ext>
    <p:ext uri="GoogleSlidesCustomDataVersion2">
      <go:slidesCustomData xmlns:go="http://customooxmlschemas.google.com/" r:id="rId30" roundtripDataSignature="AMtx7mj0KVP5vI1MmdME5j31LmQO9pAih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  <p:guide pos="657" orient="horz"/>
        <p:guide pos="4649"/>
        <p:guide pos="3497"/>
        <p:guide pos="2350"/>
        <p:guide pos="201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erifDisplay-regular.fntdata"/><Relationship Id="rId22" Type="http://schemas.openxmlformats.org/officeDocument/2006/relationships/font" Target="fonts/Karla-regular.fntdata"/><Relationship Id="rId21" Type="http://schemas.openxmlformats.org/officeDocument/2006/relationships/font" Target="fonts/DMSerifDisplay-italic.fntdata"/><Relationship Id="rId24" Type="http://schemas.openxmlformats.org/officeDocument/2006/relationships/font" Target="fonts/Karla-italic.fntdata"/><Relationship Id="rId23" Type="http://schemas.openxmlformats.org/officeDocument/2006/relationships/font" Target="fonts/Karla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penSans-regular.fntdata"/><Relationship Id="rId25" Type="http://schemas.openxmlformats.org/officeDocument/2006/relationships/font" Target="fonts/Karla-boldItalic.fntdata"/><Relationship Id="rId28" Type="http://schemas.openxmlformats.org/officeDocument/2006/relationships/font" Target="fonts/OpenSans-italic.fntdata"/><Relationship Id="rId27" Type="http://schemas.openxmlformats.org/officeDocument/2006/relationships/font" Target="fonts/Open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penSa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customschemas.google.com/relationships/presentationmetadata" Target="metadata"/><Relationship Id="rId11" Type="http://schemas.openxmlformats.org/officeDocument/2006/relationships/font" Target="fonts/FiraSansExtraBold-boldItalic.fntdata"/><Relationship Id="rId10" Type="http://schemas.openxmlformats.org/officeDocument/2006/relationships/font" Target="fonts/FiraSansExtraBold-bold.fntdata"/><Relationship Id="rId13" Type="http://schemas.openxmlformats.org/officeDocument/2006/relationships/font" Target="fonts/FiraSans-bold.fntdata"/><Relationship Id="rId12" Type="http://schemas.openxmlformats.org/officeDocument/2006/relationships/font" Target="fonts/FiraSans-regular.fntdata"/><Relationship Id="rId15" Type="http://schemas.openxmlformats.org/officeDocument/2006/relationships/font" Target="fonts/FiraSans-boldItalic.fntdata"/><Relationship Id="rId14" Type="http://schemas.openxmlformats.org/officeDocument/2006/relationships/font" Target="fonts/FiraSans-italic.fntdata"/><Relationship Id="rId17" Type="http://schemas.openxmlformats.org/officeDocument/2006/relationships/font" Target="fonts/OpenSansMedium-bold.fntdata"/><Relationship Id="rId16" Type="http://schemas.openxmlformats.org/officeDocument/2006/relationships/font" Target="fonts/OpenSansMedium-regular.fntdata"/><Relationship Id="rId19" Type="http://schemas.openxmlformats.org/officeDocument/2006/relationships/font" Target="fonts/OpenSansMedium-boldItalic.fntdata"/><Relationship Id="rId18" Type="http://schemas.openxmlformats.org/officeDocument/2006/relationships/font" Target="fonts/OpenSansMedium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7"/>
          <p:cNvSpPr txBox="1"/>
          <p:nvPr>
            <p:ph type="title"/>
          </p:nvPr>
        </p:nvSpPr>
        <p:spPr>
          <a:xfrm>
            <a:off x="407194" y="178941"/>
            <a:ext cx="78867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000">
                <a:solidFill>
                  <a:srgbClr val="002060"/>
                </a:solidFill>
                <a:latin typeface="Karla"/>
                <a:ea typeface="Karla"/>
                <a:cs typeface="Karla"/>
                <a:sym typeface="Karl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52" name="Google Shape;52;p17"/>
          <p:cNvSpPr txBox="1"/>
          <p:nvPr>
            <p:ph idx="1" type="body"/>
          </p:nvPr>
        </p:nvSpPr>
        <p:spPr>
          <a:xfrm>
            <a:off x="400050" y="10263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200">
                <a:latin typeface="Karla"/>
                <a:ea typeface="Karla"/>
                <a:cs typeface="Karla"/>
                <a:sym typeface="Karla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Karla"/>
                <a:ea typeface="Karla"/>
                <a:cs typeface="Karla"/>
                <a:sym typeface="Karl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Karla"/>
                <a:ea typeface="Karla"/>
                <a:cs typeface="Karla"/>
                <a:sym typeface="Karl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7"/>
          <p:cNvSpPr txBox="1"/>
          <p:nvPr>
            <p:ph idx="12" type="sldNum"/>
          </p:nvPr>
        </p:nvSpPr>
        <p:spPr>
          <a:xfrm>
            <a:off x="8688150" y="4767275"/>
            <a:ext cx="360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"/>
          <p:cNvPicPr preferRelativeResize="0"/>
          <p:nvPr/>
        </p:nvPicPr>
        <p:blipFill rotWithShape="1">
          <a:blip r:embed="rId3">
            <a:alphaModFix/>
          </a:blip>
          <a:srcRect b="-10" l="0" r="0" t="0"/>
          <a:stretch/>
        </p:blipFill>
        <p:spPr>
          <a:xfrm>
            <a:off x="480734" y="3782550"/>
            <a:ext cx="2094225" cy="222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"/>
          <p:cNvSpPr txBox="1"/>
          <p:nvPr/>
        </p:nvSpPr>
        <p:spPr>
          <a:xfrm>
            <a:off x="378075" y="897900"/>
            <a:ext cx="72993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100">
                <a:solidFill>
                  <a:srgbClr val="1B2630"/>
                </a:solidFill>
                <a:latin typeface="Fira Sans ExtraBold"/>
                <a:ea typeface="Fira Sans ExtraBold"/>
                <a:cs typeface="Fira Sans ExtraBold"/>
                <a:sym typeface="Fira Sans ExtraBold"/>
              </a:rPr>
              <a:t>Deep Learning with Normalization &amp; Regularization</a:t>
            </a:r>
            <a:endParaRPr b="0" i="0" sz="1700" u="none" cap="none" strike="noStrike"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900" u="none" cap="none" strike="noStrike"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</p:txBody>
      </p:sp>
      <p:pic>
        <p:nvPicPr>
          <p:cNvPr id="62" name="Google Shape;6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19639" y="8"/>
            <a:ext cx="4224356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630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2"/>
          <p:cNvPicPr preferRelativeResize="0"/>
          <p:nvPr/>
        </p:nvPicPr>
        <p:blipFill rotWithShape="1">
          <a:blip r:embed="rId3">
            <a:alphaModFix/>
          </a:blip>
          <a:srcRect b="0" l="15561" r="15552" t="0"/>
          <a:stretch/>
        </p:blipFill>
        <p:spPr>
          <a:xfrm>
            <a:off x="0" y="0"/>
            <a:ext cx="3543000" cy="51435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68" name="Google Shape;68;p2"/>
          <p:cNvSpPr txBox="1"/>
          <p:nvPr>
            <p:ph type="ctrTitle"/>
          </p:nvPr>
        </p:nvSpPr>
        <p:spPr>
          <a:xfrm>
            <a:off x="3543000" y="1297700"/>
            <a:ext cx="2877600" cy="7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3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Agenda</a:t>
            </a:r>
            <a:endParaRPr b="1" sz="36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1" sz="2900">
              <a:solidFill>
                <a:srgbClr val="1B263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900"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1B263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900">
              <a:solidFill>
                <a:srgbClr val="1B263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69" name="Google Shape;69;p2"/>
          <p:cNvSpPr txBox="1"/>
          <p:nvPr/>
        </p:nvSpPr>
        <p:spPr>
          <a:xfrm>
            <a:off x="3685550" y="1219850"/>
            <a:ext cx="4672200" cy="218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73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Open Sans Medium"/>
              <a:buChar char="●"/>
            </a:pPr>
            <a:r>
              <a:rPr b="0" i="0" lang="en" sz="2500" u="none" cap="none" strike="noStrike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Code</a:t>
            </a:r>
            <a:endParaRPr b="0" i="0" sz="25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70" name="Google Shape;70;p2"/>
          <p:cNvPicPr preferRelativeResize="0"/>
          <p:nvPr/>
        </p:nvPicPr>
        <p:blipFill rotWithShape="1">
          <a:blip r:embed="rId4">
            <a:alphaModFix/>
          </a:blip>
          <a:srcRect b="0" l="0" r="63340" t="0"/>
          <a:stretch/>
        </p:blipFill>
        <p:spPr>
          <a:xfrm>
            <a:off x="8058067" y="1536650"/>
            <a:ext cx="1085924" cy="3606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ADE2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3"/>
          <p:cNvPicPr preferRelativeResize="0"/>
          <p:nvPr/>
        </p:nvPicPr>
        <p:blipFill rotWithShape="1">
          <a:blip r:embed="rId3">
            <a:alphaModFix/>
          </a:blip>
          <a:srcRect b="0" l="30829" r="0" t="0"/>
          <a:stretch/>
        </p:blipFill>
        <p:spPr>
          <a:xfrm>
            <a:off x="5586200" y="0"/>
            <a:ext cx="355780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3"/>
          <p:cNvSpPr txBox="1"/>
          <p:nvPr/>
        </p:nvSpPr>
        <p:spPr>
          <a:xfrm>
            <a:off x="455680" y="1371081"/>
            <a:ext cx="4791600" cy="8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48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Code</a:t>
            </a:r>
            <a:endParaRPr b="1" i="0" sz="24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77" name="Google Shape;77;p3"/>
          <p:cNvPicPr preferRelativeResize="0"/>
          <p:nvPr/>
        </p:nvPicPr>
        <p:blipFill rotWithShape="1">
          <a:blip r:embed="rId4">
            <a:alphaModFix/>
          </a:blip>
          <a:srcRect b="0" l="0" r="10" t="0"/>
          <a:stretch/>
        </p:blipFill>
        <p:spPr>
          <a:xfrm>
            <a:off x="378692" y="4660525"/>
            <a:ext cx="2094225" cy="22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"/>
          <p:cNvSpPr/>
          <p:nvPr/>
        </p:nvSpPr>
        <p:spPr>
          <a:xfrm>
            <a:off x="4572000" y="2547900"/>
            <a:ext cx="4572000" cy="2595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4572000" y="0"/>
            <a:ext cx="4572000" cy="25479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222900" y="2056325"/>
            <a:ext cx="4196700" cy="15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" sz="11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You’ll need a way to run a Jupyter notebook</a:t>
            </a:r>
            <a:endParaRPr b="0" i="0" sz="11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Char char="○"/>
            </a:pPr>
            <a:r>
              <a:rPr b="0" i="0" lang="en" sz="11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E.g., Anaconda, Colab, CodeRunner, VS Code</a:t>
            </a:r>
            <a:endParaRPr b="0" i="0" sz="11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1B263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1B263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1B263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1B263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1B263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346718" y="1571846"/>
            <a:ext cx="3561900" cy="4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2000" u="none" cap="none" strike="noStrike">
                <a:solidFill>
                  <a:srgbClr val="1B2630"/>
                </a:solidFill>
                <a:latin typeface="Fira Sans"/>
                <a:ea typeface="Fira Sans"/>
                <a:cs typeface="Fira Sans"/>
                <a:sym typeface="Fira Sans"/>
              </a:rPr>
              <a:t>Jupyter Notebook</a:t>
            </a:r>
            <a:endParaRPr b="1" i="0" sz="2000" u="none" cap="none" strike="noStrike">
              <a:solidFill>
                <a:srgbClr val="1B263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456975" y="3298575"/>
            <a:ext cx="4429200" cy="17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Char char="●"/>
            </a:pPr>
            <a:r>
              <a:rPr b="0" i="0" lang="en" sz="11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Data is from the</a:t>
            </a:r>
            <a:r>
              <a:rPr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scikit-learn</a:t>
            </a:r>
            <a:r>
              <a:rPr b="0" i="0" lang="en" sz="11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library</a:t>
            </a:r>
            <a:endParaRPr b="0" i="0" sz="1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427575" y="2631825"/>
            <a:ext cx="4196700" cy="7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700" u="none" cap="none" strike="noStrike">
                <a:solidFill>
                  <a:srgbClr val="1B2630"/>
                </a:solidFill>
                <a:latin typeface="Fira Sans"/>
                <a:ea typeface="Fira Sans"/>
                <a:cs typeface="Fira Sans"/>
                <a:sym typeface="Fira Sans"/>
              </a:rPr>
              <a:t>Data</a:t>
            </a:r>
            <a:endParaRPr b="1" i="0" sz="1700" u="none" cap="none" strike="noStrike">
              <a:solidFill>
                <a:srgbClr val="1B263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8" name="Google Shape;88;p4"/>
          <p:cNvSpPr txBox="1"/>
          <p:nvPr>
            <p:ph idx="4294967295" type="ctrTitle"/>
          </p:nvPr>
        </p:nvSpPr>
        <p:spPr>
          <a:xfrm>
            <a:off x="346725" y="914547"/>
            <a:ext cx="3100800" cy="7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3600" u="none" cap="none" strike="noStrike">
                <a:solidFill>
                  <a:srgbClr val="1B2630"/>
                </a:solidFill>
                <a:latin typeface="Fira Sans"/>
                <a:ea typeface="Fira Sans"/>
                <a:cs typeface="Fira Sans"/>
                <a:sym typeface="Fira Sans"/>
              </a:rPr>
              <a:t>Code</a:t>
            </a:r>
            <a:endParaRPr b="1" i="0" sz="3600" u="none" cap="none" strike="noStrike">
              <a:solidFill>
                <a:srgbClr val="1B263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